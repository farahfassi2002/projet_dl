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ugaki" charset="1" panose="00000000000000000000"/>
      <p:regular r:id="rId17"/>
    </p:embeddedFont>
    <p:embeddedFont>
      <p:font typeface="Codec Pro Bold" charset="1" panose="00000600000000000000"/>
      <p:regular r:id="rId18"/>
    </p:embeddedFont>
    <p:embeddedFont>
      <p:font typeface="Brittany" charset="1" panose="00000000000000000000"/>
      <p:regular r:id="rId19"/>
    </p:embeddedFont>
    <p:embeddedFont>
      <p:font typeface="Poppins Semi-Bold" charset="1" panose="00000700000000000000"/>
      <p:regular r:id="rId20"/>
    </p:embeddedFont>
    <p:embeddedFont>
      <p:font typeface="Codec Pro" charset="1" panose="00000500000000000000"/>
      <p:regular r:id="rId21"/>
    </p:embeddedFont>
    <p:embeddedFont>
      <p:font typeface="Poppins Medium" charset="1" panose="00000600000000000000"/>
      <p:regular r:id="rId22"/>
    </p:embeddedFont>
    <p:embeddedFont>
      <p:font typeface="Archivo Black" charset="1" panose="020B0A03020202020B04"/>
      <p:regular r:id="rId23"/>
    </p:embeddedFont>
    <p:embeddedFont>
      <p:font typeface="Open Sans 2" charset="1" panose="00000000000000000000"/>
      <p:regular r:id="rId24"/>
    </p:embeddedFont>
    <p:embeddedFont>
      <p:font typeface="Quicksand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6236" y="3810659"/>
            <a:ext cx="12477449" cy="353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8"/>
              </a:lnSpc>
            </a:pPr>
            <a:r>
              <a:rPr lang="en-US" sz="699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SYSTÈM</a:t>
            </a:r>
            <a:r>
              <a:rPr lang="en-US" sz="699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E D'AIDE AU DIAGNOSTIC DES LÉSIONS CUTANÉES</a:t>
            </a:r>
          </a:p>
          <a:p>
            <a:pPr algn="ctr">
              <a:lnSpc>
                <a:spcPts val="664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796090" y="8084903"/>
            <a:ext cx="3093638" cy="3061513"/>
          </a:xfrm>
          <a:custGeom>
            <a:avLst/>
            <a:gdLst/>
            <a:ahLst/>
            <a:cxnLst/>
            <a:rect r="r" b="b" t="t" l="l"/>
            <a:pathLst>
              <a:path h="3061513" w="3093638">
                <a:moveTo>
                  <a:pt x="0" y="0"/>
                </a:moveTo>
                <a:lnTo>
                  <a:pt x="3093638" y="0"/>
                </a:lnTo>
                <a:lnTo>
                  <a:pt x="3093638" y="3061513"/>
                </a:lnTo>
                <a:lnTo>
                  <a:pt x="0" y="3061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9417" y="-789798"/>
            <a:ext cx="3093638" cy="3061513"/>
          </a:xfrm>
          <a:custGeom>
            <a:avLst/>
            <a:gdLst/>
            <a:ahLst/>
            <a:cxnLst/>
            <a:rect r="r" b="b" t="t" l="l"/>
            <a:pathLst>
              <a:path h="3061513" w="3093638">
                <a:moveTo>
                  <a:pt x="0" y="0"/>
                </a:moveTo>
                <a:lnTo>
                  <a:pt x="3093638" y="0"/>
                </a:lnTo>
                <a:lnTo>
                  <a:pt x="3093638" y="3061513"/>
                </a:lnTo>
                <a:lnTo>
                  <a:pt x="0" y="3061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332665">
            <a:off x="14526571" y="-1298797"/>
            <a:ext cx="1875774" cy="5401443"/>
          </a:xfrm>
          <a:custGeom>
            <a:avLst/>
            <a:gdLst/>
            <a:ahLst/>
            <a:cxnLst/>
            <a:rect r="r" b="b" t="t" l="l"/>
            <a:pathLst>
              <a:path h="5401443" w="1875774">
                <a:moveTo>
                  <a:pt x="0" y="0"/>
                </a:moveTo>
                <a:lnTo>
                  <a:pt x="1875774" y="0"/>
                </a:lnTo>
                <a:lnTo>
                  <a:pt x="1875774" y="5401443"/>
                </a:lnTo>
                <a:lnTo>
                  <a:pt x="0" y="5401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77808" y="8686490"/>
            <a:ext cx="3234451" cy="1858339"/>
          </a:xfrm>
          <a:custGeom>
            <a:avLst/>
            <a:gdLst/>
            <a:ahLst/>
            <a:cxnLst/>
            <a:rect r="r" b="b" t="t" l="l"/>
            <a:pathLst>
              <a:path h="1858339" w="3234451">
                <a:moveTo>
                  <a:pt x="0" y="0"/>
                </a:moveTo>
                <a:lnTo>
                  <a:pt x="3234451" y="0"/>
                </a:lnTo>
                <a:lnTo>
                  <a:pt x="3234451" y="1858339"/>
                </a:lnTo>
                <a:lnTo>
                  <a:pt x="0" y="1858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5169" y="-574647"/>
            <a:ext cx="2421904" cy="2223748"/>
          </a:xfrm>
          <a:custGeom>
            <a:avLst/>
            <a:gdLst/>
            <a:ahLst/>
            <a:cxnLst/>
            <a:rect r="r" b="b" t="t" l="l"/>
            <a:pathLst>
              <a:path h="2223748" w="2421904">
                <a:moveTo>
                  <a:pt x="0" y="0"/>
                </a:moveTo>
                <a:lnTo>
                  <a:pt x="2421905" y="0"/>
                </a:lnTo>
                <a:lnTo>
                  <a:pt x="2421905" y="2223748"/>
                </a:lnTo>
                <a:lnTo>
                  <a:pt x="0" y="22237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00766" y="6492176"/>
            <a:ext cx="10673427" cy="8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3241" b="true">
                <a:solidFill>
                  <a:srgbClr val="57575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Présenté par :</a:t>
            </a:r>
          </a:p>
          <a:p>
            <a:pPr algn="l">
              <a:lnSpc>
                <a:spcPts val="3079"/>
              </a:lnSpc>
            </a:pPr>
            <a:r>
              <a:rPr lang="en-US" sz="3241" b="true">
                <a:solidFill>
                  <a:srgbClr val="57575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Chaima CHATTI &amp; Farah FASSI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4039" y="8741031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9" y="0"/>
                </a:lnTo>
                <a:lnTo>
                  <a:pt x="2732529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41126" y="-583771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22541" y="-2374082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96359" y="8084903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42172" y="8837273"/>
            <a:ext cx="1165350" cy="1165350"/>
            <a:chOff x="0" y="0"/>
            <a:chExt cx="1553800" cy="1553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44143" y="344143"/>
              <a:ext cx="865513" cy="865513"/>
            </a:xfrm>
            <a:custGeom>
              <a:avLst/>
              <a:gdLst/>
              <a:ahLst/>
              <a:cxnLst/>
              <a:rect r="r" b="b" t="t" l="l"/>
              <a:pathLst>
                <a:path h="865513" w="865513">
                  <a:moveTo>
                    <a:pt x="0" y="0"/>
                  </a:moveTo>
                  <a:lnTo>
                    <a:pt x="865513" y="0"/>
                  </a:lnTo>
                  <a:lnTo>
                    <a:pt x="865513" y="865513"/>
                  </a:lnTo>
                  <a:lnTo>
                    <a:pt x="0" y="865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542172" y="4170963"/>
            <a:ext cx="1165350" cy="1165350"/>
            <a:chOff x="0" y="0"/>
            <a:chExt cx="1553800" cy="1553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359038" y="355205"/>
              <a:ext cx="835723" cy="843390"/>
            </a:xfrm>
            <a:custGeom>
              <a:avLst/>
              <a:gdLst/>
              <a:ahLst/>
              <a:cxnLst/>
              <a:rect r="r" b="b" t="t" l="l"/>
              <a:pathLst>
                <a:path h="843390" w="835723">
                  <a:moveTo>
                    <a:pt x="0" y="0"/>
                  </a:moveTo>
                  <a:lnTo>
                    <a:pt x="835723" y="0"/>
                  </a:lnTo>
                  <a:lnTo>
                    <a:pt x="835723" y="843390"/>
                  </a:lnTo>
                  <a:lnTo>
                    <a:pt x="0" y="843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42172" y="1059213"/>
            <a:ext cx="1165350" cy="1165350"/>
            <a:chOff x="0" y="0"/>
            <a:chExt cx="1553800" cy="15538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416106" y="317556"/>
              <a:ext cx="721587" cy="918688"/>
            </a:xfrm>
            <a:custGeom>
              <a:avLst/>
              <a:gdLst/>
              <a:ahLst/>
              <a:cxnLst/>
              <a:rect r="r" b="b" t="t" l="l"/>
              <a:pathLst>
                <a:path h="918688" w="721587">
                  <a:moveTo>
                    <a:pt x="0" y="0"/>
                  </a:moveTo>
                  <a:lnTo>
                    <a:pt x="721588" y="0"/>
                  </a:lnTo>
                  <a:lnTo>
                    <a:pt x="721588" y="918688"/>
                  </a:lnTo>
                  <a:lnTo>
                    <a:pt x="0" y="918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542172" y="2615088"/>
            <a:ext cx="1165350" cy="1165350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09C9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542172" y="5726400"/>
            <a:ext cx="1165350" cy="1165350"/>
            <a:chOff x="0" y="0"/>
            <a:chExt cx="1553800" cy="15538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96086" y="332802"/>
              <a:ext cx="961629" cy="888195"/>
            </a:xfrm>
            <a:custGeom>
              <a:avLst/>
              <a:gdLst/>
              <a:ahLst/>
              <a:cxnLst/>
              <a:rect r="r" b="b" t="t" l="l"/>
              <a:pathLst>
                <a:path h="888195" w="961629">
                  <a:moveTo>
                    <a:pt x="0" y="0"/>
                  </a:moveTo>
                  <a:lnTo>
                    <a:pt x="961628" y="0"/>
                  </a:lnTo>
                  <a:lnTo>
                    <a:pt x="961628" y="888195"/>
                  </a:lnTo>
                  <a:lnTo>
                    <a:pt x="0" y="888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542172" y="7281836"/>
            <a:ext cx="1165350" cy="1165350"/>
            <a:chOff x="0" y="0"/>
            <a:chExt cx="1553800" cy="15538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238309" y="238309"/>
              <a:ext cx="1077181" cy="1077181"/>
            </a:xfrm>
            <a:custGeom>
              <a:avLst/>
              <a:gdLst/>
              <a:ahLst/>
              <a:cxnLst/>
              <a:rect r="r" b="b" t="t" l="l"/>
              <a:pathLst>
                <a:path h="1077181" w="1077181">
                  <a:moveTo>
                    <a:pt x="0" y="0"/>
                  </a:moveTo>
                  <a:lnTo>
                    <a:pt x="1077181" y="0"/>
                  </a:lnTo>
                  <a:lnTo>
                    <a:pt x="1077181" y="1077181"/>
                  </a:lnTo>
                  <a:lnTo>
                    <a:pt x="0" y="107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2741021" y="2769560"/>
            <a:ext cx="767650" cy="856405"/>
          </a:xfrm>
          <a:custGeom>
            <a:avLst/>
            <a:gdLst/>
            <a:ahLst/>
            <a:cxnLst/>
            <a:rect r="r" b="b" t="t" l="l"/>
            <a:pathLst>
              <a:path h="856405" w="767650">
                <a:moveTo>
                  <a:pt x="0" y="0"/>
                </a:moveTo>
                <a:lnTo>
                  <a:pt x="767650" y="0"/>
                </a:lnTo>
                <a:lnTo>
                  <a:pt x="767650" y="856405"/>
                </a:lnTo>
                <a:lnTo>
                  <a:pt x="0" y="85640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913585" y="988327"/>
            <a:ext cx="12287011" cy="190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5"/>
              </a:lnSpc>
            </a:pPr>
            <a:r>
              <a:rPr lang="en-US" sz="13339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PLAN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99491" y="2068669"/>
            <a:ext cx="2007045" cy="152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4"/>
              </a:lnSpc>
            </a:pPr>
            <a:r>
              <a:rPr lang="en-US" sz="8903">
                <a:solidFill>
                  <a:srgbClr val="F08486"/>
                </a:solidFill>
                <a:latin typeface="Brittany"/>
                <a:ea typeface="Brittany"/>
                <a:cs typeface="Brittany"/>
                <a:sym typeface="Brittany"/>
              </a:rPr>
              <a:t>Plan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97546" y="1337701"/>
            <a:ext cx="534129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INTRODUCTION</a:t>
            </a: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&amp; CONTEXTE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156693" y="2883438"/>
            <a:ext cx="745465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CHOIX</a:t>
            </a: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&amp; DÉMARCHE MÉTHODOLOGIQUE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85193" y="4439313"/>
            <a:ext cx="61586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</a:t>
            </a: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ODÉLISATION</a:t>
            </a: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&amp; COMPARAISON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185193" y="5994749"/>
            <a:ext cx="311437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MODÉLE CHOISIT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197546" y="7537799"/>
            <a:ext cx="475803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APPLICATION DÉVELOPPÉ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156693" y="9080849"/>
            <a:ext cx="566856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</a:t>
            </a:r>
            <a:r>
              <a:rPr lang="en-US" b="true" sz="3000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417" y="8084903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6349" y="-338330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28900" y="-1358203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96359" y="8084903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34973" y="2538286"/>
            <a:ext cx="13222435" cy="2605214"/>
            <a:chOff x="0" y="0"/>
            <a:chExt cx="1564552" cy="3082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4552" cy="308263"/>
            </a:xfrm>
            <a:custGeom>
              <a:avLst/>
              <a:gdLst/>
              <a:ahLst/>
              <a:cxnLst/>
              <a:rect r="r" b="b" t="t" l="l"/>
              <a:pathLst>
                <a:path h="308263" w="1564552">
                  <a:moveTo>
                    <a:pt x="39339" y="0"/>
                  </a:moveTo>
                  <a:lnTo>
                    <a:pt x="1525213" y="0"/>
                  </a:lnTo>
                  <a:cubicBezTo>
                    <a:pt x="1535646" y="0"/>
                    <a:pt x="1545652" y="4145"/>
                    <a:pt x="1553030" y="11522"/>
                  </a:cubicBezTo>
                  <a:cubicBezTo>
                    <a:pt x="1560407" y="18900"/>
                    <a:pt x="1564552" y="28906"/>
                    <a:pt x="1564552" y="39339"/>
                  </a:cubicBezTo>
                  <a:lnTo>
                    <a:pt x="1564552" y="268924"/>
                  </a:lnTo>
                  <a:cubicBezTo>
                    <a:pt x="1564552" y="290651"/>
                    <a:pt x="1546939" y="308263"/>
                    <a:pt x="1525213" y="308263"/>
                  </a:cubicBezTo>
                  <a:lnTo>
                    <a:pt x="39339" y="308263"/>
                  </a:lnTo>
                  <a:cubicBezTo>
                    <a:pt x="28906" y="308263"/>
                    <a:pt x="18900" y="304119"/>
                    <a:pt x="11522" y="296741"/>
                  </a:cubicBezTo>
                  <a:cubicBezTo>
                    <a:pt x="4145" y="289364"/>
                    <a:pt x="0" y="279358"/>
                    <a:pt x="0" y="268924"/>
                  </a:cubicBezTo>
                  <a:lnTo>
                    <a:pt x="0" y="39339"/>
                  </a:lnTo>
                  <a:cubicBezTo>
                    <a:pt x="0" y="17613"/>
                    <a:pt x="17613" y="0"/>
                    <a:pt x="39339" y="0"/>
                  </a:cubicBezTo>
                  <a:close/>
                </a:path>
              </a:pathLst>
            </a:custGeom>
            <a:solidFill>
              <a:srgbClr val="FFC5C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4552" cy="34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67940" y="2775431"/>
            <a:ext cx="11214390" cy="483685"/>
            <a:chOff x="0" y="0"/>
            <a:chExt cx="14952521" cy="6449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8743" cy="644914"/>
            </a:xfrm>
            <a:custGeom>
              <a:avLst/>
              <a:gdLst/>
              <a:ahLst/>
              <a:cxnLst/>
              <a:rect r="r" b="b" t="t" l="l"/>
              <a:pathLst>
                <a:path h="644914" w="688743">
                  <a:moveTo>
                    <a:pt x="0" y="0"/>
                  </a:moveTo>
                  <a:lnTo>
                    <a:pt x="688743" y="0"/>
                  </a:lnTo>
                  <a:lnTo>
                    <a:pt x="688743" y="644914"/>
                  </a:lnTo>
                  <a:lnTo>
                    <a:pt x="0" y="644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989478" y="0"/>
              <a:ext cx="13963042" cy="582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3"/>
                </a:lnSpc>
              </a:pPr>
              <a:r>
                <a:rPr lang="en-US" sz="2900">
                  <a:solidFill>
                    <a:srgbClr val="575757"/>
                  </a:solidFill>
                  <a:latin typeface="Codec Pro"/>
                  <a:ea typeface="Codec Pro"/>
                  <a:cs typeface="Codec Pro"/>
                  <a:sym typeface="Codec Pro"/>
                </a:rPr>
                <a:t>Le cancer de la peau est le 3ème cancer le plus fréquent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67940" y="3396147"/>
            <a:ext cx="12832397" cy="789559"/>
            <a:chOff x="0" y="0"/>
            <a:chExt cx="17109863" cy="10527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743" cy="644914"/>
            </a:xfrm>
            <a:custGeom>
              <a:avLst/>
              <a:gdLst/>
              <a:ahLst/>
              <a:cxnLst/>
              <a:rect r="r" b="b" t="t" l="l"/>
              <a:pathLst>
                <a:path h="644914" w="688743">
                  <a:moveTo>
                    <a:pt x="0" y="0"/>
                  </a:moveTo>
                  <a:lnTo>
                    <a:pt x="688743" y="0"/>
                  </a:lnTo>
                  <a:lnTo>
                    <a:pt x="688743" y="644914"/>
                  </a:lnTo>
                  <a:lnTo>
                    <a:pt x="0" y="644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989478" y="0"/>
              <a:ext cx="16120385" cy="105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3"/>
                </a:lnSpc>
              </a:pPr>
              <a:r>
                <a:rPr lang="en-US" sz="2900">
                  <a:solidFill>
                    <a:srgbClr val="575757"/>
                  </a:solidFill>
                  <a:latin typeface="Codec Pro"/>
                  <a:ea typeface="Codec Pro"/>
                  <a:cs typeface="Codec Pro"/>
                  <a:sym typeface="Codec Pro"/>
                </a:rPr>
                <a:t>Le mélanome est la forme la plus dangereuse avec un taux de mortalité élevé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67940" y="4322736"/>
            <a:ext cx="11214390" cy="483685"/>
            <a:chOff x="0" y="0"/>
            <a:chExt cx="14952521" cy="6449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743" cy="644914"/>
            </a:xfrm>
            <a:custGeom>
              <a:avLst/>
              <a:gdLst/>
              <a:ahLst/>
              <a:cxnLst/>
              <a:rect r="r" b="b" t="t" l="l"/>
              <a:pathLst>
                <a:path h="644914" w="688743">
                  <a:moveTo>
                    <a:pt x="0" y="0"/>
                  </a:moveTo>
                  <a:lnTo>
                    <a:pt x="688743" y="0"/>
                  </a:lnTo>
                  <a:lnTo>
                    <a:pt x="688743" y="644914"/>
                  </a:lnTo>
                  <a:lnTo>
                    <a:pt x="0" y="644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989478" y="0"/>
              <a:ext cx="13963042" cy="582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3"/>
                </a:lnSpc>
              </a:pPr>
              <a:r>
                <a:rPr lang="en-US" sz="2900">
                  <a:solidFill>
                    <a:srgbClr val="575757"/>
                  </a:solidFill>
                  <a:latin typeface="Codec Pro"/>
                  <a:ea typeface="Codec Pro"/>
                  <a:cs typeface="Codec Pro"/>
                  <a:sym typeface="Codec Pro"/>
                </a:rPr>
                <a:t>La détection précoce permet un taux de survie &gt;90%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89846" y="7261245"/>
            <a:ext cx="8059777" cy="1933448"/>
            <a:chOff x="0" y="0"/>
            <a:chExt cx="2293944" cy="5502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93944" cy="550291"/>
            </a:xfrm>
            <a:custGeom>
              <a:avLst/>
              <a:gdLst/>
              <a:ahLst/>
              <a:cxnLst/>
              <a:rect r="r" b="b" t="t" l="l"/>
              <a:pathLst>
                <a:path h="550291" w="2293944">
                  <a:moveTo>
                    <a:pt x="82608" y="0"/>
                  </a:moveTo>
                  <a:lnTo>
                    <a:pt x="2211336" y="0"/>
                  </a:lnTo>
                  <a:cubicBezTo>
                    <a:pt x="2233245" y="0"/>
                    <a:pt x="2254257" y="8703"/>
                    <a:pt x="2269749" y="24195"/>
                  </a:cubicBezTo>
                  <a:cubicBezTo>
                    <a:pt x="2285241" y="39688"/>
                    <a:pt x="2293944" y="60699"/>
                    <a:pt x="2293944" y="82608"/>
                  </a:cubicBezTo>
                  <a:lnTo>
                    <a:pt x="2293944" y="467682"/>
                  </a:lnTo>
                  <a:cubicBezTo>
                    <a:pt x="2293944" y="513306"/>
                    <a:pt x="2256959" y="550291"/>
                    <a:pt x="2211336" y="550291"/>
                  </a:cubicBezTo>
                  <a:lnTo>
                    <a:pt x="82608" y="550291"/>
                  </a:lnTo>
                  <a:cubicBezTo>
                    <a:pt x="36985" y="550291"/>
                    <a:pt x="0" y="513306"/>
                    <a:pt x="0" y="467682"/>
                  </a:cubicBezTo>
                  <a:lnTo>
                    <a:pt x="0" y="82608"/>
                  </a:lnTo>
                  <a:cubicBezTo>
                    <a:pt x="0" y="36985"/>
                    <a:pt x="36985" y="0"/>
                    <a:pt x="8260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293944" cy="597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954741" y="6552439"/>
            <a:ext cx="1341618" cy="1144034"/>
          </a:xfrm>
          <a:custGeom>
            <a:avLst/>
            <a:gdLst/>
            <a:ahLst/>
            <a:cxnLst/>
            <a:rect r="r" b="b" t="t" l="l"/>
            <a:pathLst>
              <a:path h="1144034" w="1341618">
                <a:moveTo>
                  <a:pt x="0" y="0"/>
                </a:moveTo>
                <a:lnTo>
                  <a:pt x="1341618" y="0"/>
                </a:lnTo>
                <a:lnTo>
                  <a:pt x="1341618" y="1144035"/>
                </a:lnTo>
                <a:lnTo>
                  <a:pt x="0" y="1144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466163" y="7628992"/>
            <a:ext cx="7107143" cy="1223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b="true" sz="1825" spc="18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</a:t>
            </a:r>
            <a:r>
              <a:rPr lang="en-US" b="true" sz="1825" spc="18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OMMENT UTILISER L'INTELLIGENCE ARTIFICIELLE POUR AIDER AU DIAGNOSTIC PRÉCOCE DES LÉSIONS CUTANÉES 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66912" y="6882086"/>
            <a:ext cx="8937675" cy="62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7"/>
              </a:lnSpc>
            </a:pPr>
            <a:r>
              <a:rPr lang="en-US" sz="4229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PROBLÉMATIQUE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2349" y="239420"/>
            <a:ext cx="11404697" cy="19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INTRODUCTION </a:t>
            </a: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&amp; CONTEXTE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417" y="8084903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6349" y="-338330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28900" y="-1358203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96359" y="8084903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766424" y="2658205"/>
            <a:ext cx="12764953" cy="2384317"/>
            <a:chOff x="0" y="0"/>
            <a:chExt cx="17019937" cy="317909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4060260" y="601160"/>
              <a:ext cx="12959677" cy="2577930"/>
              <a:chOff x="0" y="0"/>
              <a:chExt cx="2766401" cy="55029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766401" cy="550291"/>
              </a:xfrm>
              <a:custGeom>
                <a:avLst/>
                <a:gdLst/>
                <a:ahLst/>
                <a:cxnLst/>
                <a:rect r="r" b="b" t="t" l="l"/>
                <a:pathLst>
                  <a:path h="550291" w="2766401">
                    <a:moveTo>
                      <a:pt x="68500" y="0"/>
                    </a:moveTo>
                    <a:lnTo>
                      <a:pt x="2697901" y="0"/>
                    </a:lnTo>
                    <a:cubicBezTo>
                      <a:pt x="2735733" y="0"/>
                      <a:pt x="2766401" y="30669"/>
                      <a:pt x="2766401" y="68500"/>
                    </a:cubicBezTo>
                    <a:lnTo>
                      <a:pt x="2766401" y="481791"/>
                    </a:lnTo>
                    <a:cubicBezTo>
                      <a:pt x="2766401" y="519622"/>
                      <a:pt x="2735733" y="550291"/>
                      <a:pt x="2697901" y="550291"/>
                    </a:cubicBezTo>
                    <a:lnTo>
                      <a:pt x="68500" y="550291"/>
                    </a:lnTo>
                    <a:cubicBezTo>
                      <a:pt x="30669" y="550291"/>
                      <a:pt x="0" y="519622"/>
                      <a:pt x="0" y="481791"/>
                    </a:cubicBezTo>
                    <a:lnTo>
                      <a:pt x="0" y="68500"/>
                    </a:lnTo>
                    <a:cubicBezTo>
                      <a:pt x="0" y="30669"/>
                      <a:pt x="30669" y="0"/>
                      <a:pt x="68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766401" cy="597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131697" y="1259718"/>
              <a:ext cx="11427893" cy="1052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3"/>
                </a:lnSpc>
              </a:pPr>
              <a:r>
                <a:rPr lang="en-US" b="true" sz="1825" spc="182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DÉVELOPPER UN CLASSIFIEUR AUTOMATIQUE POUR DISTINGUER 7 TYPES DE LÉSIONS CUTANÉES SUR IMAGES DERMATOSCOPIQUES.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9050"/>
              <a:ext cx="14371287" cy="837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7"/>
                </a:lnSpc>
              </a:pPr>
              <a:r>
                <a:rPr lang="en-US" sz="4229">
                  <a:solidFill>
                    <a:srgbClr val="575757"/>
                  </a:solidFill>
                  <a:latin typeface="Bugaki"/>
                  <a:ea typeface="Bugaki"/>
                  <a:cs typeface="Bugaki"/>
                  <a:sym typeface="Bugaki"/>
                </a:rPr>
                <a:t>OBJECTIFS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60633" y="5896147"/>
            <a:ext cx="8915982" cy="3729375"/>
            <a:chOff x="0" y="0"/>
            <a:chExt cx="1943197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3197" cy="812800"/>
            </a:xfrm>
            <a:custGeom>
              <a:avLst/>
              <a:gdLst/>
              <a:ahLst/>
              <a:cxnLst/>
              <a:rect r="r" b="b" t="t" l="l"/>
              <a:pathLst>
                <a:path h="812800" w="1943197">
                  <a:moveTo>
                    <a:pt x="79885" y="0"/>
                  </a:moveTo>
                  <a:lnTo>
                    <a:pt x="1863311" y="0"/>
                  </a:lnTo>
                  <a:cubicBezTo>
                    <a:pt x="1907431" y="0"/>
                    <a:pt x="1943197" y="35766"/>
                    <a:pt x="1943197" y="79885"/>
                  </a:cubicBezTo>
                  <a:lnTo>
                    <a:pt x="1943197" y="732915"/>
                  </a:lnTo>
                  <a:cubicBezTo>
                    <a:pt x="1943197" y="754102"/>
                    <a:pt x="1934780" y="774421"/>
                    <a:pt x="1919799" y="789402"/>
                  </a:cubicBezTo>
                  <a:cubicBezTo>
                    <a:pt x="1904818" y="804384"/>
                    <a:pt x="1884498" y="812800"/>
                    <a:pt x="1863311" y="812800"/>
                  </a:cubicBezTo>
                  <a:lnTo>
                    <a:pt x="79885" y="812800"/>
                  </a:lnTo>
                  <a:cubicBezTo>
                    <a:pt x="58698" y="812800"/>
                    <a:pt x="38379" y="804384"/>
                    <a:pt x="23398" y="789402"/>
                  </a:cubicBezTo>
                  <a:cubicBezTo>
                    <a:pt x="8416" y="774421"/>
                    <a:pt x="0" y="754102"/>
                    <a:pt x="0" y="732915"/>
                  </a:cubicBezTo>
                  <a:lnTo>
                    <a:pt x="0" y="79885"/>
                  </a:lnTo>
                  <a:cubicBezTo>
                    <a:pt x="0" y="58698"/>
                    <a:pt x="8416" y="38379"/>
                    <a:pt x="23398" y="23398"/>
                  </a:cubicBezTo>
                  <a:cubicBezTo>
                    <a:pt x="38379" y="8416"/>
                    <a:pt x="58698" y="0"/>
                    <a:pt x="79885" y="0"/>
                  </a:cubicBezTo>
                  <a:close/>
                </a:path>
              </a:pathLst>
            </a:custGeom>
            <a:solidFill>
              <a:srgbClr val="F9E2C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431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885005" y="6234773"/>
            <a:ext cx="8291610" cy="291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51" b="true">
                <a:solidFill>
                  <a:srgbClr val="57418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Types de lésions :</a:t>
            </a:r>
          </a:p>
          <a:p>
            <a:pPr algn="l" marL="529307" indent="-264653" lvl="1">
              <a:lnSpc>
                <a:spcPts val="3849"/>
              </a:lnSpc>
              <a:buFont typeface="Arial"/>
              <a:buChar char="•"/>
            </a:pPr>
            <a:r>
              <a:rPr lang="en-US" sz="2451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 Bénignes : Nævus, Kératose bénigne, Dermatofibrome, Lésions vasculaires</a:t>
            </a:r>
          </a:p>
          <a:p>
            <a:pPr algn="l" marL="529307" indent="-264653" lvl="1">
              <a:lnSpc>
                <a:spcPts val="3849"/>
              </a:lnSpc>
              <a:buFont typeface="Arial"/>
              <a:buChar char="•"/>
            </a:pPr>
            <a:r>
              <a:rPr lang="en-US" sz="2451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51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Précancéreuses : Kératose actinique</a:t>
            </a:r>
          </a:p>
          <a:p>
            <a:pPr algn="l" marL="529307" indent="-264653" lvl="1">
              <a:lnSpc>
                <a:spcPts val="3849"/>
              </a:lnSpc>
              <a:buFont typeface="Arial"/>
              <a:buChar char="•"/>
            </a:pPr>
            <a:r>
              <a:rPr lang="en-US" sz="2451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Malignes : Mélanome, Carcinome basocellu</a:t>
            </a:r>
          </a:p>
          <a:p>
            <a:pPr algn="l">
              <a:lnSpc>
                <a:spcPts val="3849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496670" y="5547348"/>
            <a:ext cx="1042607" cy="697599"/>
          </a:xfrm>
          <a:custGeom>
            <a:avLst/>
            <a:gdLst/>
            <a:ahLst/>
            <a:cxnLst/>
            <a:rect r="r" b="b" t="t" l="l"/>
            <a:pathLst>
              <a:path h="697599" w="1042607">
                <a:moveTo>
                  <a:pt x="0" y="0"/>
                </a:moveTo>
                <a:lnTo>
                  <a:pt x="1042607" y="0"/>
                </a:lnTo>
                <a:lnTo>
                  <a:pt x="1042607" y="697599"/>
                </a:lnTo>
                <a:lnTo>
                  <a:pt x="0" y="697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292349" y="239420"/>
            <a:ext cx="11404697" cy="19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INTRODUCTION </a:t>
            </a: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&amp; CONTEXTE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3898" y="7756922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9" y="0"/>
                </a:lnTo>
                <a:lnTo>
                  <a:pt x="2732529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12613" y="7008064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4317" y="-1207269"/>
            <a:ext cx="5340219" cy="3573092"/>
          </a:xfrm>
          <a:custGeom>
            <a:avLst/>
            <a:gdLst/>
            <a:ahLst/>
            <a:cxnLst/>
            <a:rect r="r" b="b" t="t" l="l"/>
            <a:pathLst>
              <a:path h="3573092" w="5340219">
                <a:moveTo>
                  <a:pt x="0" y="0"/>
                </a:moveTo>
                <a:lnTo>
                  <a:pt x="5340219" y="0"/>
                </a:lnTo>
                <a:lnTo>
                  <a:pt x="5340219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91985" y="8889593"/>
            <a:ext cx="5340219" cy="3573092"/>
          </a:xfrm>
          <a:custGeom>
            <a:avLst/>
            <a:gdLst/>
            <a:ahLst/>
            <a:cxnLst/>
            <a:rect r="r" b="b" t="t" l="l"/>
            <a:pathLst>
              <a:path h="3573092" w="5340219">
                <a:moveTo>
                  <a:pt x="0" y="0"/>
                </a:moveTo>
                <a:lnTo>
                  <a:pt x="5340219" y="0"/>
                </a:lnTo>
                <a:lnTo>
                  <a:pt x="5340219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86994" y="234684"/>
            <a:ext cx="14009982" cy="276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CHOIX &amp; DÉMARCHE MÉTHODOLOGIQUE </a:t>
            </a:r>
          </a:p>
          <a:p>
            <a:pPr algn="ctr">
              <a:lnSpc>
                <a:spcPts val="6771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94588" y="3200374"/>
            <a:ext cx="2612594" cy="1377727"/>
            <a:chOff x="0" y="0"/>
            <a:chExt cx="812800" cy="4286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428622"/>
            </a:xfrm>
            <a:custGeom>
              <a:avLst/>
              <a:gdLst/>
              <a:ahLst/>
              <a:cxnLst/>
              <a:rect r="r" b="b" t="t" l="l"/>
              <a:pathLst>
                <a:path h="428622" w="812800">
                  <a:moveTo>
                    <a:pt x="59266" y="0"/>
                  </a:moveTo>
                  <a:lnTo>
                    <a:pt x="753534" y="0"/>
                  </a:lnTo>
                  <a:cubicBezTo>
                    <a:pt x="769252" y="0"/>
                    <a:pt x="784327" y="6244"/>
                    <a:pt x="795441" y="17359"/>
                  </a:cubicBezTo>
                  <a:cubicBezTo>
                    <a:pt x="806556" y="28473"/>
                    <a:pt x="812800" y="43548"/>
                    <a:pt x="812800" y="59266"/>
                  </a:cubicBezTo>
                  <a:lnTo>
                    <a:pt x="812800" y="369356"/>
                  </a:lnTo>
                  <a:cubicBezTo>
                    <a:pt x="812800" y="402088"/>
                    <a:pt x="786266" y="428622"/>
                    <a:pt x="753534" y="428622"/>
                  </a:cubicBezTo>
                  <a:lnTo>
                    <a:pt x="59266" y="428622"/>
                  </a:lnTo>
                  <a:cubicBezTo>
                    <a:pt x="43548" y="428622"/>
                    <a:pt x="28473" y="422378"/>
                    <a:pt x="17359" y="411264"/>
                  </a:cubicBezTo>
                  <a:cubicBezTo>
                    <a:pt x="6244" y="400149"/>
                    <a:pt x="0" y="385075"/>
                    <a:pt x="0" y="369356"/>
                  </a:cubicBezTo>
                  <a:lnTo>
                    <a:pt x="0" y="59266"/>
                  </a:lnTo>
                  <a:cubicBezTo>
                    <a:pt x="0" y="43548"/>
                    <a:pt x="6244" y="28473"/>
                    <a:pt x="17359" y="17359"/>
                  </a:cubicBezTo>
                  <a:cubicBezTo>
                    <a:pt x="28473" y="6244"/>
                    <a:pt x="43548" y="0"/>
                    <a:pt x="59266" y="0"/>
                  </a:cubicBezTo>
                  <a:close/>
                </a:path>
              </a:pathLst>
            </a:custGeom>
            <a:ln w="19050" cap="sq">
              <a:solidFill>
                <a:srgbClr val="4E6E8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466722"/>
            </a:xfrm>
            <a:prstGeom prst="rect">
              <a:avLst/>
            </a:prstGeom>
          </p:spPr>
          <p:txBody>
            <a:bodyPr anchor="ctr" rtlCol="false" tIns="43006" lIns="43006" bIns="43006" rIns="430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2632" y="3582723"/>
            <a:ext cx="2450042" cy="53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522" spc="255">
                <a:solidFill>
                  <a:srgbClr val="574187"/>
                </a:solidFill>
                <a:latin typeface="Archivo Black"/>
                <a:ea typeface="Archivo Black"/>
                <a:cs typeface="Archivo Black"/>
                <a:sym typeface="Archivo Black"/>
              </a:rPr>
              <a:t> PRÉPARATION DES DONNÉES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807340" y="3200374"/>
            <a:ext cx="2612594" cy="1334411"/>
            <a:chOff x="0" y="0"/>
            <a:chExt cx="812800" cy="4151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15146"/>
            </a:xfrm>
            <a:custGeom>
              <a:avLst/>
              <a:gdLst/>
              <a:ahLst/>
              <a:cxnLst/>
              <a:rect r="r" b="b" t="t" l="l"/>
              <a:pathLst>
                <a:path h="415146" w="812800">
                  <a:moveTo>
                    <a:pt x="59266" y="0"/>
                  </a:moveTo>
                  <a:lnTo>
                    <a:pt x="753534" y="0"/>
                  </a:lnTo>
                  <a:cubicBezTo>
                    <a:pt x="769252" y="0"/>
                    <a:pt x="784327" y="6244"/>
                    <a:pt x="795441" y="17359"/>
                  </a:cubicBezTo>
                  <a:cubicBezTo>
                    <a:pt x="806556" y="28473"/>
                    <a:pt x="812800" y="43548"/>
                    <a:pt x="812800" y="59266"/>
                  </a:cubicBezTo>
                  <a:lnTo>
                    <a:pt x="812800" y="355880"/>
                  </a:lnTo>
                  <a:cubicBezTo>
                    <a:pt x="812800" y="388612"/>
                    <a:pt x="786266" y="415146"/>
                    <a:pt x="753534" y="415146"/>
                  </a:cubicBezTo>
                  <a:lnTo>
                    <a:pt x="59266" y="415146"/>
                  </a:lnTo>
                  <a:cubicBezTo>
                    <a:pt x="43548" y="415146"/>
                    <a:pt x="28473" y="408902"/>
                    <a:pt x="17359" y="397788"/>
                  </a:cubicBezTo>
                  <a:cubicBezTo>
                    <a:pt x="6244" y="386673"/>
                    <a:pt x="0" y="371599"/>
                    <a:pt x="0" y="355880"/>
                  </a:cubicBezTo>
                  <a:lnTo>
                    <a:pt x="0" y="59266"/>
                  </a:lnTo>
                  <a:cubicBezTo>
                    <a:pt x="0" y="43548"/>
                    <a:pt x="6244" y="28473"/>
                    <a:pt x="17359" y="17359"/>
                  </a:cubicBezTo>
                  <a:cubicBezTo>
                    <a:pt x="28473" y="6244"/>
                    <a:pt x="43548" y="0"/>
                    <a:pt x="59266" y="0"/>
                  </a:cubicBezTo>
                  <a:close/>
                </a:path>
              </a:pathLst>
            </a:custGeom>
            <a:ln w="19050" cap="sq">
              <a:solidFill>
                <a:srgbClr val="4E6E8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53246"/>
            </a:xfrm>
            <a:prstGeom prst="rect">
              <a:avLst/>
            </a:prstGeom>
          </p:spPr>
          <p:txBody>
            <a:bodyPr anchor="ctr" rtlCol="false" tIns="43006" lIns="43006" bIns="43006" rIns="430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969892" y="3508524"/>
            <a:ext cx="2287489" cy="53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522" spc="255">
                <a:solidFill>
                  <a:srgbClr val="574187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AUGMENTATION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411752" y="3200374"/>
            <a:ext cx="2612594" cy="1352426"/>
            <a:chOff x="0" y="0"/>
            <a:chExt cx="3483459" cy="180323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483459" cy="1803234"/>
              <a:chOff x="0" y="0"/>
              <a:chExt cx="812800" cy="42075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420751"/>
              </a:xfrm>
              <a:custGeom>
                <a:avLst/>
                <a:gdLst/>
                <a:ahLst/>
                <a:cxnLst/>
                <a:rect r="r" b="b" t="t" l="l"/>
                <a:pathLst>
                  <a:path h="420751" w="812800">
                    <a:moveTo>
                      <a:pt x="59266" y="0"/>
                    </a:moveTo>
                    <a:lnTo>
                      <a:pt x="753534" y="0"/>
                    </a:lnTo>
                    <a:cubicBezTo>
                      <a:pt x="769252" y="0"/>
                      <a:pt x="784327" y="6244"/>
                      <a:pt x="795441" y="17359"/>
                    </a:cubicBezTo>
                    <a:cubicBezTo>
                      <a:pt x="806556" y="28473"/>
                      <a:pt x="812800" y="43548"/>
                      <a:pt x="812800" y="59266"/>
                    </a:cubicBezTo>
                    <a:lnTo>
                      <a:pt x="812800" y="361485"/>
                    </a:lnTo>
                    <a:cubicBezTo>
                      <a:pt x="812800" y="394217"/>
                      <a:pt x="786266" y="420751"/>
                      <a:pt x="753534" y="420751"/>
                    </a:cubicBezTo>
                    <a:lnTo>
                      <a:pt x="59266" y="420751"/>
                    </a:lnTo>
                    <a:cubicBezTo>
                      <a:pt x="43548" y="420751"/>
                      <a:pt x="28473" y="414507"/>
                      <a:pt x="17359" y="403392"/>
                    </a:cubicBezTo>
                    <a:cubicBezTo>
                      <a:pt x="6244" y="392278"/>
                      <a:pt x="0" y="377203"/>
                      <a:pt x="0" y="361485"/>
                    </a:cubicBezTo>
                    <a:lnTo>
                      <a:pt x="0" y="59266"/>
                    </a:lnTo>
                    <a:cubicBezTo>
                      <a:pt x="0" y="43548"/>
                      <a:pt x="6244" y="28473"/>
                      <a:pt x="17359" y="17359"/>
                    </a:cubicBezTo>
                    <a:cubicBezTo>
                      <a:pt x="28473" y="6244"/>
                      <a:pt x="43548" y="0"/>
                      <a:pt x="59266" y="0"/>
                    </a:cubicBezTo>
                    <a:close/>
                  </a:path>
                </a:pathLst>
              </a:custGeom>
              <a:ln w="19050" cap="sq">
                <a:solidFill>
                  <a:srgbClr val="4E6E81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12800" cy="458851"/>
              </a:xfrm>
              <a:prstGeom prst="rect">
                <a:avLst/>
              </a:prstGeom>
            </p:spPr>
            <p:txBody>
              <a:bodyPr anchor="ctr" rtlCol="false" tIns="43006" lIns="43006" bIns="43006" rIns="4300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16737" y="423567"/>
              <a:ext cx="3049986" cy="1050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522" spc="255">
                  <a:solidFill>
                    <a:srgbClr val="57418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MODÉLISATION (CNN SIMPLE VS RESNET50)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253450" y="3234955"/>
            <a:ext cx="2612594" cy="1352426"/>
            <a:chOff x="0" y="0"/>
            <a:chExt cx="3483459" cy="180323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483459" cy="1803234"/>
              <a:chOff x="0" y="0"/>
              <a:chExt cx="812800" cy="42075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420751"/>
              </a:xfrm>
              <a:custGeom>
                <a:avLst/>
                <a:gdLst/>
                <a:ahLst/>
                <a:cxnLst/>
                <a:rect r="r" b="b" t="t" l="l"/>
                <a:pathLst>
                  <a:path h="420751" w="812800">
                    <a:moveTo>
                      <a:pt x="59266" y="0"/>
                    </a:moveTo>
                    <a:lnTo>
                      <a:pt x="753534" y="0"/>
                    </a:lnTo>
                    <a:cubicBezTo>
                      <a:pt x="769252" y="0"/>
                      <a:pt x="784327" y="6244"/>
                      <a:pt x="795441" y="17359"/>
                    </a:cubicBezTo>
                    <a:cubicBezTo>
                      <a:pt x="806556" y="28473"/>
                      <a:pt x="812800" y="43548"/>
                      <a:pt x="812800" y="59266"/>
                    </a:cubicBezTo>
                    <a:lnTo>
                      <a:pt x="812800" y="361485"/>
                    </a:lnTo>
                    <a:cubicBezTo>
                      <a:pt x="812800" y="394217"/>
                      <a:pt x="786266" y="420751"/>
                      <a:pt x="753534" y="420751"/>
                    </a:cubicBezTo>
                    <a:lnTo>
                      <a:pt x="59266" y="420751"/>
                    </a:lnTo>
                    <a:cubicBezTo>
                      <a:pt x="43548" y="420751"/>
                      <a:pt x="28473" y="414507"/>
                      <a:pt x="17359" y="403392"/>
                    </a:cubicBezTo>
                    <a:cubicBezTo>
                      <a:pt x="6244" y="392278"/>
                      <a:pt x="0" y="377203"/>
                      <a:pt x="0" y="361485"/>
                    </a:cubicBezTo>
                    <a:lnTo>
                      <a:pt x="0" y="59266"/>
                    </a:lnTo>
                    <a:cubicBezTo>
                      <a:pt x="0" y="43548"/>
                      <a:pt x="6244" y="28473"/>
                      <a:pt x="17359" y="17359"/>
                    </a:cubicBezTo>
                    <a:cubicBezTo>
                      <a:pt x="28473" y="6244"/>
                      <a:pt x="43548" y="0"/>
                      <a:pt x="59266" y="0"/>
                    </a:cubicBezTo>
                    <a:close/>
                  </a:path>
                </a:pathLst>
              </a:custGeom>
              <a:ln w="19050" cap="sq">
                <a:solidFill>
                  <a:srgbClr val="4E6E81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12800" cy="458851"/>
              </a:xfrm>
              <a:prstGeom prst="rect">
                <a:avLst/>
              </a:prstGeom>
            </p:spPr>
            <p:txBody>
              <a:bodyPr anchor="ctr" rtlCol="false" tIns="43006" lIns="43006" bIns="43006" rIns="4300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16737" y="423567"/>
              <a:ext cx="3049986" cy="1050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</a:pPr>
              <a:r>
                <a:rPr lang="en-US" sz="1522" spc="255">
                  <a:solidFill>
                    <a:srgbClr val="57418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ÉVALUATION &amp; VALIDATION</a:t>
              </a:r>
            </a:p>
            <a:p>
              <a:pPr algn="ctr">
                <a:lnSpc>
                  <a:spcPts val="213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19065" y="3225185"/>
            <a:ext cx="2612594" cy="1371965"/>
            <a:chOff x="0" y="0"/>
            <a:chExt cx="3483459" cy="182928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341797" y="567605"/>
              <a:ext cx="3049986" cy="655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13"/>
                </a:lnSpc>
                <a:spcBef>
                  <a:spcPct val="0"/>
                </a:spcBef>
              </a:pPr>
              <a:r>
                <a:rPr lang="en-US" sz="1438" spc="241">
                  <a:solidFill>
                    <a:srgbClr val="57418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ENTRAÎNEMENT&amp; OPTIMISATION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0" y="0"/>
              <a:ext cx="3483459" cy="1829287"/>
              <a:chOff x="0" y="0"/>
              <a:chExt cx="812800" cy="42683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426830"/>
              </a:xfrm>
              <a:custGeom>
                <a:avLst/>
                <a:gdLst/>
                <a:ahLst/>
                <a:cxnLst/>
                <a:rect r="r" b="b" t="t" l="l"/>
                <a:pathLst>
                  <a:path h="426830" w="812800">
                    <a:moveTo>
                      <a:pt x="59266" y="0"/>
                    </a:moveTo>
                    <a:lnTo>
                      <a:pt x="753534" y="0"/>
                    </a:lnTo>
                    <a:cubicBezTo>
                      <a:pt x="769252" y="0"/>
                      <a:pt x="784327" y="6244"/>
                      <a:pt x="795441" y="17359"/>
                    </a:cubicBezTo>
                    <a:cubicBezTo>
                      <a:pt x="806556" y="28473"/>
                      <a:pt x="812800" y="43548"/>
                      <a:pt x="812800" y="59266"/>
                    </a:cubicBezTo>
                    <a:lnTo>
                      <a:pt x="812800" y="367564"/>
                    </a:lnTo>
                    <a:cubicBezTo>
                      <a:pt x="812800" y="383282"/>
                      <a:pt x="806556" y="398357"/>
                      <a:pt x="795441" y="409471"/>
                    </a:cubicBezTo>
                    <a:cubicBezTo>
                      <a:pt x="784327" y="420586"/>
                      <a:pt x="769252" y="426830"/>
                      <a:pt x="753534" y="426830"/>
                    </a:cubicBezTo>
                    <a:lnTo>
                      <a:pt x="59266" y="426830"/>
                    </a:lnTo>
                    <a:cubicBezTo>
                      <a:pt x="26534" y="426830"/>
                      <a:pt x="0" y="400296"/>
                      <a:pt x="0" y="367564"/>
                    </a:cubicBezTo>
                    <a:lnTo>
                      <a:pt x="0" y="59266"/>
                    </a:lnTo>
                    <a:cubicBezTo>
                      <a:pt x="0" y="43548"/>
                      <a:pt x="6244" y="28473"/>
                      <a:pt x="17359" y="17359"/>
                    </a:cubicBezTo>
                    <a:cubicBezTo>
                      <a:pt x="28473" y="6244"/>
                      <a:pt x="43548" y="0"/>
                      <a:pt x="59266" y="0"/>
                    </a:cubicBezTo>
                    <a:close/>
                  </a:path>
                </a:pathLst>
              </a:custGeom>
              <a:ln w="19050" cap="sq">
                <a:solidFill>
                  <a:srgbClr val="4E6E81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812800" cy="464930"/>
              </a:xfrm>
              <a:prstGeom prst="rect">
                <a:avLst/>
              </a:prstGeom>
            </p:spPr>
            <p:txBody>
              <a:bodyPr anchor="ctr" rtlCol="false" tIns="43006" lIns="43006" bIns="43006" rIns="4300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1608565" y="5121026"/>
            <a:ext cx="6716121" cy="1738878"/>
            <a:chOff x="0" y="0"/>
            <a:chExt cx="2237141" cy="5792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37142" cy="579221"/>
            </a:xfrm>
            <a:custGeom>
              <a:avLst/>
              <a:gdLst/>
              <a:ahLst/>
              <a:cxnLst/>
              <a:rect r="r" b="b" t="t" l="l"/>
              <a:pathLst>
                <a:path h="579221" w="2237142">
                  <a:moveTo>
                    <a:pt x="29971" y="0"/>
                  </a:moveTo>
                  <a:lnTo>
                    <a:pt x="2207170" y="0"/>
                  </a:lnTo>
                  <a:cubicBezTo>
                    <a:pt x="2215119" y="0"/>
                    <a:pt x="2222742" y="3158"/>
                    <a:pt x="2228363" y="8778"/>
                  </a:cubicBezTo>
                  <a:cubicBezTo>
                    <a:pt x="2233984" y="14399"/>
                    <a:pt x="2237142" y="22022"/>
                    <a:pt x="2237142" y="29971"/>
                  </a:cubicBezTo>
                  <a:lnTo>
                    <a:pt x="2237142" y="549249"/>
                  </a:lnTo>
                  <a:cubicBezTo>
                    <a:pt x="2237142" y="565802"/>
                    <a:pt x="2223723" y="579221"/>
                    <a:pt x="2207170" y="579221"/>
                  </a:cubicBezTo>
                  <a:lnTo>
                    <a:pt x="29971" y="579221"/>
                  </a:lnTo>
                  <a:cubicBezTo>
                    <a:pt x="22022" y="579221"/>
                    <a:pt x="14399" y="576063"/>
                    <a:pt x="8778" y="570442"/>
                  </a:cubicBezTo>
                  <a:cubicBezTo>
                    <a:pt x="3158" y="564821"/>
                    <a:pt x="0" y="557198"/>
                    <a:pt x="0" y="549249"/>
                  </a:cubicBezTo>
                  <a:lnTo>
                    <a:pt x="0" y="29971"/>
                  </a:lnTo>
                  <a:cubicBezTo>
                    <a:pt x="0" y="22022"/>
                    <a:pt x="3158" y="14399"/>
                    <a:pt x="8778" y="8778"/>
                  </a:cubicBezTo>
                  <a:cubicBezTo>
                    <a:pt x="14399" y="3158"/>
                    <a:pt x="22022" y="0"/>
                    <a:pt x="29971" y="0"/>
                  </a:cubicBezTo>
                  <a:close/>
                </a:path>
              </a:pathLst>
            </a:custGeom>
            <a:ln w="28575" cap="rnd">
              <a:solidFill>
                <a:srgbClr val="ED849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237141" cy="617320"/>
            </a:xfrm>
            <a:prstGeom prst="rect">
              <a:avLst/>
            </a:prstGeom>
          </p:spPr>
          <p:txBody>
            <a:bodyPr anchor="ctr" rtlCol="false" tIns="40166" lIns="40166" bIns="40166" rIns="40166"/>
            <a:lstStyle/>
            <a:p>
              <a:pPr algn="ctr">
                <a:lnSpc>
                  <a:spcPts val="2761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308226" y="7134707"/>
            <a:ext cx="9707989" cy="1738878"/>
            <a:chOff x="0" y="0"/>
            <a:chExt cx="3233733" cy="5792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33733" cy="579221"/>
            </a:xfrm>
            <a:custGeom>
              <a:avLst/>
              <a:gdLst/>
              <a:ahLst/>
              <a:cxnLst/>
              <a:rect r="r" b="b" t="t" l="l"/>
              <a:pathLst>
                <a:path h="579221" w="3233733">
                  <a:moveTo>
                    <a:pt x="20734" y="0"/>
                  </a:moveTo>
                  <a:lnTo>
                    <a:pt x="3212999" y="0"/>
                  </a:lnTo>
                  <a:cubicBezTo>
                    <a:pt x="3224450" y="0"/>
                    <a:pt x="3233733" y="9283"/>
                    <a:pt x="3233733" y="20734"/>
                  </a:cubicBezTo>
                  <a:lnTo>
                    <a:pt x="3233733" y="558486"/>
                  </a:lnTo>
                  <a:cubicBezTo>
                    <a:pt x="3233733" y="569937"/>
                    <a:pt x="3224450" y="579221"/>
                    <a:pt x="3212999" y="579221"/>
                  </a:cubicBezTo>
                  <a:lnTo>
                    <a:pt x="20734" y="579221"/>
                  </a:lnTo>
                  <a:cubicBezTo>
                    <a:pt x="9283" y="579221"/>
                    <a:pt x="0" y="569937"/>
                    <a:pt x="0" y="558486"/>
                  </a:cubicBezTo>
                  <a:lnTo>
                    <a:pt x="0" y="20734"/>
                  </a:lnTo>
                  <a:cubicBezTo>
                    <a:pt x="0" y="9283"/>
                    <a:pt x="9283" y="0"/>
                    <a:pt x="20734" y="0"/>
                  </a:cubicBezTo>
                  <a:close/>
                </a:path>
              </a:pathLst>
            </a:custGeom>
            <a:ln w="28575" cap="rnd">
              <a:solidFill>
                <a:srgbClr val="ED8490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233733" cy="617320"/>
            </a:xfrm>
            <a:prstGeom prst="rect">
              <a:avLst/>
            </a:prstGeom>
          </p:spPr>
          <p:txBody>
            <a:bodyPr anchor="ctr" rtlCol="false" tIns="40166" lIns="40166" bIns="40166" rIns="40166"/>
            <a:lstStyle/>
            <a:p>
              <a:pPr algn="ctr">
                <a:lnSpc>
                  <a:spcPts val="2761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936794" y="5875728"/>
            <a:ext cx="2725457" cy="753217"/>
          </a:xfrm>
          <a:custGeom>
            <a:avLst/>
            <a:gdLst/>
            <a:ahLst/>
            <a:cxnLst/>
            <a:rect r="r" b="b" t="t" l="l"/>
            <a:pathLst>
              <a:path h="753217" w="2725457">
                <a:moveTo>
                  <a:pt x="0" y="0"/>
                </a:moveTo>
                <a:lnTo>
                  <a:pt x="2725456" y="0"/>
                </a:lnTo>
                <a:lnTo>
                  <a:pt x="2725456" y="753217"/>
                </a:lnTo>
                <a:lnTo>
                  <a:pt x="0" y="753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751337" y="6054612"/>
            <a:ext cx="1181919" cy="28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4"/>
              </a:lnSpc>
              <a:spcBef>
                <a:spcPct val="0"/>
              </a:spcBef>
            </a:pPr>
            <a:r>
              <a:rPr lang="en-US" sz="1739" spc="29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KAGGLE 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5271000" y="5875728"/>
            <a:ext cx="2725457" cy="753217"/>
          </a:xfrm>
          <a:custGeom>
            <a:avLst/>
            <a:gdLst/>
            <a:ahLst/>
            <a:cxnLst/>
            <a:rect r="r" b="b" t="t" l="l"/>
            <a:pathLst>
              <a:path h="753217" w="2725457">
                <a:moveTo>
                  <a:pt x="0" y="0"/>
                </a:moveTo>
                <a:lnTo>
                  <a:pt x="2725457" y="0"/>
                </a:lnTo>
                <a:lnTo>
                  <a:pt x="2725457" y="753217"/>
                </a:lnTo>
                <a:lnTo>
                  <a:pt x="0" y="753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758890" y="6005748"/>
            <a:ext cx="1749677" cy="58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4"/>
              </a:lnSpc>
              <a:spcBef>
                <a:spcPct val="0"/>
              </a:spcBef>
            </a:pPr>
            <a:r>
              <a:rPr lang="en-US" sz="1739" spc="29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HAM</a:t>
            </a:r>
            <a:r>
              <a:rPr lang="en-US" sz="1739" spc="29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10000</a:t>
            </a:r>
          </a:p>
          <a:p>
            <a:pPr algn="ctr">
              <a:lnSpc>
                <a:spcPts val="2434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4633712" y="5419838"/>
            <a:ext cx="963875" cy="26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3"/>
              </a:lnSpc>
              <a:spcBef>
                <a:spcPct val="0"/>
              </a:spcBef>
            </a:pPr>
            <a:r>
              <a:rPr lang="en-US" sz="1559" spc="26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SOURCE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220036" y="5143500"/>
            <a:ext cx="3198059" cy="1718489"/>
            <a:chOff x="0" y="0"/>
            <a:chExt cx="1065274" cy="5724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5274" cy="572429"/>
            </a:xfrm>
            <a:custGeom>
              <a:avLst/>
              <a:gdLst/>
              <a:ahLst/>
              <a:cxnLst/>
              <a:rect r="r" b="b" t="t" l="l"/>
              <a:pathLst>
                <a:path h="572429" w="1065274">
                  <a:moveTo>
                    <a:pt x="62941" y="0"/>
                  </a:moveTo>
                  <a:lnTo>
                    <a:pt x="1002333" y="0"/>
                  </a:lnTo>
                  <a:cubicBezTo>
                    <a:pt x="1037094" y="0"/>
                    <a:pt x="1065274" y="28180"/>
                    <a:pt x="1065274" y="62941"/>
                  </a:cubicBezTo>
                  <a:lnTo>
                    <a:pt x="1065274" y="509488"/>
                  </a:lnTo>
                  <a:cubicBezTo>
                    <a:pt x="1065274" y="526181"/>
                    <a:pt x="1058643" y="542190"/>
                    <a:pt x="1046839" y="553994"/>
                  </a:cubicBezTo>
                  <a:cubicBezTo>
                    <a:pt x="1035035" y="565798"/>
                    <a:pt x="1019026" y="572429"/>
                    <a:pt x="1002333" y="572429"/>
                  </a:cubicBezTo>
                  <a:lnTo>
                    <a:pt x="62941" y="572429"/>
                  </a:lnTo>
                  <a:cubicBezTo>
                    <a:pt x="46248" y="572429"/>
                    <a:pt x="30239" y="565798"/>
                    <a:pt x="18435" y="553994"/>
                  </a:cubicBezTo>
                  <a:cubicBezTo>
                    <a:pt x="6631" y="542190"/>
                    <a:pt x="0" y="526181"/>
                    <a:pt x="0" y="509488"/>
                  </a:cubicBezTo>
                  <a:lnTo>
                    <a:pt x="0" y="62941"/>
                  </a:lnTo>
                  <a:cubicBezTo>
                    <a:pt x="0" y="46248"/>
                    <a:pt x="6631" y="30239"/>
                    <a:pt x="18435" y="18435"/>
                  </a:cubicBezTo>
                  <a:cubicBezTo>
                    <a:pt x="30239" y="6631"/>
                    <a:pt x="46248" y="0"/>
                    <a:pt x="62941" y="0"/>
                  </a:cubicBezTo>
                  <a:close/>
                </a:path>
              </a:pathLst>
            </a:custGeom>
            <a:ln w="28575" cap="rnd">
              <a:solidFill>
                <a:srgbClr val="F08486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65274" cy="610529"/>
            </a:xfrm>
            <a:prstGeom prst="rect">
              <a:avLst/>
            </a:prstGeom>
          </p:spPr>
          <p:txBody>
            <a:bodyPr anchor="ctr" rtlCol="false" tIns="40166" lIns="40166" bIns="40166" rIns="40166"/>
            <a:lstStyle/>
            <a:p>
              <a:pPr algn="ctr">
                <a:lnSpc>
                  <a:spcPts val="2761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43104" y="5143500"/>
            <a:ext cx="3198059" cy="1718489"/>
            <a:chOff x="0" y="0"/>
            <a:chExt cx="1065274" cy="57242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5274" cy="572429"/>
            </a:xfrm>
            <a:custGeom>
              <a:avLst/>
              <a:gdLst/>
              <a:ahLst/>
              <a:cxnLst/>
              <a:rect r="r" b="b" t="t" l="l"/>
              <a:pathLst>
                <a:path h="572429" w="1065274">
                  <a:moveTo>
                    <a:pt x="62941" y="0"/>
                  </a:moveTo>
                  <a:lnTo>
                    <a:pt x="1002333" y="0"/>
                  </a:lnTo>
                  <a:cubicBezTo>
                    <a:pt x="1037094" y="0"/>
                    <a:pt x="1065274" y="28180"/>
                    <a:pt x="1065274" y="62941"/>
                  </a:cubicBezTo>
                  <a:lnTo>
                    <a:pt x="1065274" y="509488"/>
                  </a:lnTo>
                  <a:cubicBezTo>
                    <a:pt x="1065274" y="526181"/>
                    <a:pt x="1058643" y="542190"/>
                    <a:pt x="1046839" y="553994"/>
                  </a:cubicBezTo>
                  <a:cubicBezTo>
                    <a:pt x="1035035" y="565798"/>
                    <a:pt x="1019026" y="572429"/>
                    <a:pt x="1002333" y="572429"/>
                  </a:cubicBezTo>
                  <a:lnTo>
                    <a:pt x="62941" y="572429"/>
                  </a:lnTo>
                  <a:cubicBezTo>
                    <a:pt x="46248" y="572429"/>
                    <a:pt x="30239" y="565798"/>
                    <a:pt x="18435" y="553994"/>
                  </a:cubicBezTo>
                  <a:cubicBezTo>
                    <a:pt x="6631" y="542190"/>
                    <a:pt x="0" y="526181"/>
                    <a:pt x="0" y="509488"/>
                  </a:cubicBezTo>
                  <a:lnTo>
                    <a:pt x="0" y="62941"/>
                  </a:lnTo>
                  <a:cubicBezTo>
                    <a:pt x="0" y="46248"/>
                    <a:pt x="6631" y="30239"/>
                    <a:pt x="18435" y="18435"/>
                  </a:cubicBezTo>
                  <a:cubicBezTo>
                    <a:pt x="30239" y="6631"/>
                    <a:pt x="46248" y="0"/>
                    <a:pt x="62941" y="0"/>
                  </a:cubicBezTo>
                  <a:close/>
                </a:path>
              </a:pathLst>
            </a:custGeom>
            <a:ln w="28575" cap="rnd">
              <a:solidFill>
                <a:srgbClr val="F08486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65274" cy="610529"/>
            </a:xfrm>
            <a:prstGeom prst="rect">
              <a:avLst/>
            </a:prstGeom>
          </p:spPr>
          <p:txBody>
            <a:bodyPr anchor="ctr" rtlCol="false" tIns="40166" lIns="40166" bIns="40166" rIns="40166"/>
            <a:lstStyle/>
            <a:p>
              <a:pPr algn="ctr">
                <a:lnSpc>
                  <a:spcPts val="2761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9499112" y="5928804"/>
            <a:ext cx="2725457" cy="753217"/>
          </a:xfrm>
          <a:custGeom>
            <a:avLst/>
            <a:gdLst/>
            <a:ahLst/>
            <a:cxnLst/>
            <a:rect r="r" b="b" t="t" l="l"/>
            <a:pathLst>
              <a:path h="753217" w="2725457">
                <a:moveTo>
                  <a:pt x="0" y="0"/>
                </a:moveTo>
                <a:lnTo>
                  <a:pt x="2725457" y="0"/>
                </a:lnTo>
                <a:lnTo>
                  <a:pt x="2725457" y="753217"/>
                </a:lnTo>
                <a:lnTo>
                  <a:pt x="0" y="753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9477019" y="5971306"/>
            <a:ext cx="2684092" cy="43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6"/>
              </a:lnSpc>
              <a:spcBef>
                <a:spcPct val="0"/>
              </a:spcBef>
            </a:pPr>
            <a:r>
              <a:rPr lang="en-US" sz="1261" spc="21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10</a:t>
            </a:r>
            <a:r>
              <a:rPr lang="en-US" sz="1261" spc="21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,015 IMAGES DE</a:t>
            </a:r>
            <a:r>
              <a:rPr lang="en-US" sz="1261" spc="21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RMATOSCOPIQUES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132785" y="5197577"/>
            <a:ext cx="1372560" cy="53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3"/>
              </a:lnSpc>
              <a:spcBef>
                <a:spcPct val="0"/>
              </a:spcBef>
            </a:pPr>
            <a:r>
              <a:rPr lang="en-US" sz="1559" spc="26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TAILLE TOTALE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2974679" y="5657681"/>
            <a:ext cx="2725457" cy="753217"/>
          </a:xfrm>
          <a:custGeom>
            <a:avLst/>
            <a:gdLst/>
            <a:ahLst/>
            <a:cxnLst/>
            <a:rect r="r" b="b" t="t" l="l"/>
            <a:pathLst>
              <a:path h="753217" w="2725457">
                <a:moveTo>
                  <a:pt x="0" y="0"/>
                </a:moveTo>
                <a:lnTo>
                  <a:pt x="2725456" y="0"/>
                </a:lnTo>
                <a:lnTo>
                  <a:pt x="2725456" y="753217"/>
                </a:lnTo>
                <a:lnTo>
                  <a:pt x="0" y="753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3194937" y="5785660"/>
            <a:ext cx="2284939" cy="24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6"/>
              </a:lnSpc>
              <a:spcBef>
                <a:spcPct val="0"/>
              </a:spcBef>
            </a:pPr>
            <a:r>
              <a:rPr lang="en-US" sz="1461" spc="24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IM</a:t>
            </a:r>
            <a:r>
              <a:rPr lang="en-US" sz="1461" spc="24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AGES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949602" y="5281486"/>
            <a:ext cx="582255" cy="26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3"/>
              </a:lnSpc>
              <a:spcBef>
                <a:spcPct val="0"/>
              </a:spcBef>
            </a:pPr>
            <a:r>
              <a:rPr lang="en-US" sz="1559" spc="26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TYPE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3453552" y="7306305"/>
            <a:ext cx="2725457" cy="1211785"/>
            <a:chOff x="0" y="0"/>
            <a:chExt cx="3633942" cy="161571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611424"/>
              <a:ext cx="3633942" cy="1004289"/>
            </a:xfrm>
            <a:custGeom>
              <a:avLst/>
              <a:gdLst/>
              <a:ahLst/>
              <a:cxnLst/>
              <a:rect r="r" b="b" t="t" l="l"/>
              <a:pathLst>
                <a:path h="1004289" w="3633942">
                  <a:moveTo>
                    <a:pt x="0" y="0"/>
                  </a:moveTo>
                  <a:lnTo>
                    <a:pt x="3633942" y="0"/>
                  </a:lnTo>
                  <a:lnTo>
                    <a:pt x="3633942" y="1004289"/>
                  </a:lnTo>
                  <a:lnTo>
                    <a:pt x="0" y="1004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 rot="0">
              <a:off x="1005063" y="746615"/>
              <a:ext cx="1623816" cy="465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169" spc="364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64%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956219" y="-28575"/>
              <a:ext cx="1721505" cy="337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83"/>
                </a:lnSpc>
                <a:spcBef>
                  <a:spcPct val="0"/>
                </a:spcBef>
              </a:pPr>
              <a:r>
                <a:rPr lang="en-US" sz="1559" spc="262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TRAIN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662125" y="7431403"/>
            <a:ext cx="2725457" cy="1145486"/>
            <a:chOff x="0" y="0"/>
            <a:chExt cx="3633942" cy="152731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523025"/>
              <a:ext cx="3633942" cy="1004289"/>
            </a:xfrm>
            <a:custGeom>
              <a:avLst/>
              <a:gdLst/>
              <a:ahLst/>
              <a:cxnLst/>
              <a:rect r="r" b="b" t="t" l="l"/>
              <a:pathLst>
                <a:path h="1004289" w="3633942">
                  <a:moveTo>
                    <a:pt x="0" y="0"/>
                  </a:moveTo>
                  <a:lnTo>
                    <a:pt x="3633942" y="0"/>
                  </a:lnTo>
                  <a:lnTo>
                    <a:pt x="3633942" y="1004289"/>
                  </a:lnTo>
                  <a:lnTo>
                    <a:pt x="0" y="1004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 rot="0">
              <a:off x="883470" y="658216"/>
              <a:ext cx="1867001" cy="465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169" spc="364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 16%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828720" y="-28575"/>
              <a:ext cx="2044629" cy="337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83"/>
                </a:lnSpc>
                <a:spcBef>
                  <a:spcPct val="0"/>
                </a:spcBef>
              </a:pPr>
              <a:r>
                <a:rPr lang="en-US" sz="1559" spc="262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VALIDATION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824053" y="7271564"/>
            <a:ext cx="2725457" cy="1211785"/>
            <a:chOff x="0" y="0"/>
            <a:chExt cx="3633942" cy="161571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611424"/>
              <a:ext cx="3633942" cy="1004289"/>
            </a:xfrm>
            <a:custGeom>
              <a:avLst/>
              <a:gdLst/>
              <a:ahLst/>
              <a:cxnLst/>
              <a:rect r="r" b="b" t="t" l="l"/>
              <a:pathLst>
                <a:path h="1004289" w="3633942">
                  <a:moveTo>
                    <a:pt x="0" y="0"/>
                  </a:moveTo>
                  <a:lnTo>
                    <a:pt x="3633942" y="0"/>
                  </a:lnTo>
                  <a:lnTo>
                    <a:pt x="3633942" y="1004289"/>
                  </a:lnTo>
                  <a:lnTo>
                    <a:pt x="0" y="1004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 rot="0">
              <a:off x="1005063" y="746615"/>
              <a:ext cx="1623816" cy="465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169" spc="364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20%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956219" y="-28575"/>
              <a:ext cx="1721505" cy="337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83"/>
                </a:lnSpc>
                <a:spcBef>
                  <a:spcPct val="0"/>
                </a:spcBef>
              </a:pPr>
              <a:r>
                <a:rPr lang="en-US" sz="1559" spc="262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TEST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>
            <a:off x="2844863" y="3858572"/>
            <a:ext cx="962477" cy="900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6589962" y="3876587"/>
            <a:ext cx="821790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9997275" y="3911168"/>
            <a:ext cx="821790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>
            <a:off x="13431660" y="3930218"/>
            <a:ext cx="821790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746" y="-702076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9" y="0"/>
                </a:lnTo>
                <a:lnTo>
                  <a:pt x="2732529" y="2704154"/>
                </a:lnTo>
                <a:lnTo>
                  <a:pt x="0" y="2704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26772" y="8323137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38356" y="7667010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1228" y="90143"/>
            <a:ext cx="10765543" cy="19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MODÉL</a:t>
            </a: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ISATION &amp; COMPARAISON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562948" y="-1358203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885017" y="3403030"/>
            <a:ext cx="5283509" cy="2189706"/>
            <a:chOff x="0" y="0"/>
            <a:chExt cx="7044679" cy="291960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044679" cy="2919608"/>
              <a:chOff x="0" y="0"/>
              <a:chExt cx="698706" cy="28957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98706" cy="289573"/>
              </a:xfrm>
              <a:custGeom>
                <a:avLst/>
                <a:gdLst/>
                <a:ahLst/>
                <a:cxnLst/>
                <a:rect r="r" b="b" t="t" l="l"/>
                <a:pathLst>
                  <a:path h="289573" w="698706">
                    <a:moveTo>
                      <a:pt x="28619" y="0"/>
                    </a:moveTo>
                    <a:lnTo>
                      <a:pt x="670087" y="0"/>
                    </a:lnTo>
                    <a:cubicBezTo>
                      <a:pt x="685893" y="0"/>
                      <a:pt x="698706" y="12813"/>
                      <a:pt x="698706" y="28619"/>
                    </a:cubicBezTo>
                    <a:lnTo>
                      <a:pt x="698706" y="260954"/>
                    </a:lnTo>
                    <a:cubicBezTo>
                      <a:pt x="698706" y="268544"/>
                      <a:pt x="695691" y="275823"/>
                      <a:pt x="690324" y="281191"/>
                    </a:cubicBezTo>
                    <a:cubicBezTo>
                      <a:pt x="684957" y="286558"/>
                      <a:pt x="677678" y="289573"/>
                      <a:pt x="670087" y="289573"/>
                    </a:cubicBezTo>
                    <a:lnTo>
                      <a:pt x="28619" y="289573"/>
                    </a:lnTo>
                    <a:cubicBezTo>
                      <a:pt x="12813" y="289573"/>
                      <a:pt x="0" y="276760"/>
                      <a:pt x="0" y="260954"/>
                    </a:cubicBezTo>
                    <a:lnTo>
                      <a:pt x="0" y="28619"/>
                    </a:lnTo>
                    <a:cubicBezTo>
                      <a:pt x="0" y="12813"/>
                      <a:pt x="12813" y="0"/>
                      <a:pt x="286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2D2261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698706" cy="3371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32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82915" y="386125"/>
              <a:ext cx="6106719" cy="2055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292562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Familles de modèles testées :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292562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CNN</a:t>
              </a:r>
              <a:r>
                <a:rPr lang="en-US" b="true" sz="2199">
                  <a:solidFill>
                    <a:srgbClr val="292562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Simple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292562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ResNet50 (retenu)</a:t>
              </a:r>
            </a:p>
            <a:p>
              <a:pPr algn="l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84872" y="6000487"/>
            <a:ext cx="7378076" cy="3086100"/>
            <a:chOff x="0" y="0"/>
            <a:chExt cx="1943197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3197" cy="812800"/>
            </a:xfrm>
            <a:custGeom>
              <a:avLst/>
              <a:gdLst/>
              <a:ahLst/>
              <a:cxnLst/>
              <a:rect r="r" b="b" t="t" l="l"/>
              <a:pathLst>
                <a:path h="812800" w="1943197">
                  <a:moveTo>
                    <a:pt x="96537" y="0"/>
                  </a:moveTo>
                  <a:lnTo>
                    <a:pt x="1846660" y="0"/>
                  </a:lnTo>
                  <a:cubicBezTo>
                    <a:pt x="1899976" y="0"/>
                    <a:pt x="1943197" y="43221"/>
                    <a:pt x="1943197" y="96537"/>
                  </a:cubicBezTo>
                  <a:lnTo>
                    <a:pt x="1943197" y="716263"/>
                  </a:lnTo>
                  <a:cubicBezTo>
                    <a:pt x="1943197" y="769579"/>
                    <a:pt x="1899976" y="812800"/>
                    <a:pt x="1846660" y="812800"/>
                  </a:cubicBezTo>
                  <a:lnTo>
                    <a:pt x="96537" y="812800"/>
                  </a:lnTo>
                  <a:cubicBezTo>
                    <a:pt x="43221" y="812800"/>
                    <a:pt x="0" y="769579"/>
                    <a:pt x="0" y="716263"/>
                  </a:cubicBezTo>
                  <a:lnTo>
                    <a:pt x="0" y="96537"/>
                  </a:lnTo>
                  <a:cubicBezTo>
                    <a:pt x="0" y="43221"/>
                    <a:pt x="43221" y="0"/>
                    <a:pt x="96537" y="0"/>
                  </a:cubicBezTo>
                  <a:close/>
                </a:path>
              </a:pathLst>
            </a:custGeom>
            <a:solidFill>
              <a:srgbClr val="F9E2C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431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97990" y="3363810"/>
            <a:ext cx="9858205" cy="1779690"/>
          </a:xfrm>
          <a:custGeom>
            <a:avLst/>
            <a:gdLst/>
            <a:ahLst/>
            <a:cxnLst/>
            <a:rect r="r" b="b" t="t" l="l"/>
            <a:pathLst>
              <a:path h="1779690" w="9858205">
                <a:moveTo>
                  <a:pt x="0" y="0"/>
                </a:moveTo>
                <a:lnTo>
                  <a:pt x="9858205" y="0"/>
                </a:lnTo>
                <a:lnTo>
                  <a:pt x="9858205" y="1779690"/>
                </a:lnTo>
                <a:lnTo>
                  <a:pt x="0" y="1779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42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43210" y="6267268"/>
            <a:ext cx="6861401" cy="281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028" b="true">
                <a:solidFill>
                  <a:srgbClr val="57418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Métriques utilisées</a:t>
            </a:r>
          </a:p>
          <a:p>
            <a:pPr algn="l" marL="438007" indent="-219004" lvl="1">
              <a:lnSpc>
                <a:spcPts val="3185"/>
              </a:lnSpc>
              <a:buFont typeface="Arial"/>
              <a:buChar char="•"/>
            </a:pPr>
            <a:r>
              <a:rPr lang="en-US" sz="2028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Accuracy :</a:t>
            </a:r>
            <a:r>
              <a:rPr lang="en-US" sz="2028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 Taux de bonnes prédictions (plus élevé = meilleur).</a:t>
            </a:r>
          </a:p>
          <a:p>
            <a:pPr algn="l" marL="438007" indent="-219004" lvl="1">
              <a:lnSpc>
                <a:spcPts val="3185"/>
              </a:lnSpc>
              <a:buFont typeface="Arial"/>
              <a:buChar char="•"/>
            </a:pPr>
            <a:r>
              <a:rPr lang="en-US" sz="2028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Loss : Erreur du modèle (plus faible = meilleur).</a:t>
            </a:r>
          </a:p>
          <a:p>
            <a:pPr algn="l" marL="438007" indent="-219004" lvl="1">
              <a:lnSpc>
                <a:spcPts val="3185"/>
              </a:lnSpc>
              <a:buFont typeface="Arial"/>
              <a:buChar char="•"/>
            </a:pPr>
            <a:r>
              <a:rPr lang="en-US" sz="2028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Train vs Validation : Compare</a:t>
            </a:r>
            <a:r>
              <a:rPr lang="en-US" sz="2028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 l'</a:t>
            </a:r>
            <a:r>
              <a:rPr lang="en-US" sz="2028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apprentissage et la généralisation pour détecter le surapprentissage.</a:t>
            </a:r>
          </a:p>
          <a:p>
            <a:pPr algn="l">
              <a:lnSpc>
                <a:spcPts val="318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746" y="-702076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9" y="0"/>
                </a:lnTo>
                <a:lnTo>
                  <a:pt x="2732529" y="2704154"/>
                </a:lnTo>
                <a:lnTo>
                  <a:pt x="0" y="2704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26772" y="8323137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912930" y="7667010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95556" y="136868"/>
            <a:ext cx="10765543" cy="105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MODÉLE</a:t>
            </a: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 CHOISIT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562948" y="-1358203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4026" y="1780577"/>
            <a:ext cx="8854301" cy="5656915"/>
          </a:xfrm>
          <a:custGeom>
            <a:avLst/>
            <a:gdLst/>
            <a:ahLst/>
            <a:cxnLst/>
            <a:rect r="r" b="b" t="t" l="l"/>
            <a:pathLst>
              <a:path h="5656915" w="8854301">
                <a:moveTo>
                  <a:pt x="0" y="0"/>
                </a:moveTo>
                <a:lnTo>
                  <a:pt x="8854302" y="0"/>
                </a:lnTo>
                <a:lnTo>
                  <a:pt x="8854302" y="5656914"/>
                </a:lnTo>
                <a:lnTo>
                  <a:pt x="0" y="5656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73655" y="1742691"/>
            <a:ext cx="8458870" cy="5694800"/>
          </a:xfrm>
          <a:custGeom>
            <a:avLst/>
            <a:gdLst/>
            <a:ahLst/>
            <a:cxnLst/>
            <a:rect r="r" b="b" t="t" l="l"/>
            <a:pathLst>
              <a:path h="5694800" w="8458870">
                <a:moveTo>
                  <a:pt x="0" y="0"/>
                </a:moveTo>
                <a:lnTo>
                  <a:pt x="8458870" y="0"/>
                </a:lnTo>
                <a:lnTo>
                  <a:pt x="8458870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409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377660" y="7898439"/>
            <a:ext cx="7547400" cy="2099999"/>
            <a:chOff x="0" y="0"/>
            <a:chExt cx="2293944" cy="6382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3944" cy="638270"/>
            </a:xfrm>
            <a:custGeom>
              <a:avLst/>
              <a:gdLst/>
              <a:ahLst/>
              <a:cxnLst/>
              <a:rect r="r" b="b" t="t" l="l"/>
              <a:pathLst>
                <a:path h="638270" w="2293944">
                  <a:moveTo>
                    <a:pt x="88216" y="0"/>
                  </a:moveTo>
                  <a:lnTo>
                    <a:pt x="2205728" y="0"/>
                  </a:lnTo>
                  <a:cubicBezTo>
                    <a:pt x="2229124" y="0"/>
                    <a:pt x="2251562" y="9294"/>
                    <a:pt x="2268106" y="25838"/>
                  </a:cubicBezTo>
                  <a:cubicBezTo>
                    <a:pt x="2284650" y="42382"/>
                    <a:pt x="2293944" y="64820"/>
                    <a:pt x="2293944" y="88216"/>
                  </a:cubicBezTo>
                  <a:lnTo>
                    <a:pt x="2293944" y="550054"/>
                  </a:lnTo>
                  <a:cubicBezTo>
                    <a:pt x="2293944" y="573450"/>
                    <a:pt x="2284650" y="595888"/>
                    <a:pt x="2268106" y="612432"/>
                  </a:cubicBezTo>
                  <a:cubicBezTo>
                    <a:pt x="2251562" y="628976"/>
                    <a:pt x="2229124" y="638270"/>
                    <a:pt x="2205728" y="638270"/>
                  </a:cubicBezTo>
                  <a:lnTo>
                    <a:pt x="88216" y="638270"/>
                  </a:lnTo>
                  <a:cubicBezTo>
                    <a:pt x="64820" y="638270"/>
                    <a:pt x="42382" y="628976"/>
                    <a:pt x="25838" y="612432"/>
                  </a:cubicBezTo>
                  <a:cubicBezTo>
                    <a:pt x="9294" y="595888"/>
                    <a:pt x="0" y="573450"/>
                    <a:pt x="0" y="550054"/>
                  </a:cubicBezTo>
                  <a:lnTo>
                    <a:pt x="0" y="88216"/>
                  </a:lnTo>
                  <a:cubicBezTo>
                    <a:pt x="0" y="64820"/>
                    <a:pt x="9294" y="42382"/>
                    <a:pt x="25838" y="25838"/>
                  </a:cubicBezTo>
                  <a:cubicBezTo>
                    <a:pt x="42382" y="9294"/>
                    <a:pt x="64820" y="0"/>
                    <a:pt x="8821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30328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293944" cy="685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9943150">
            <a:off x="4566874" y="7531238"/>
            <a:ext cx="871249" cy="887384"/>
          </a:xfrm>
          <a:custGeom>
            <a:avLst/>
            <a:gdLst/>
            <a:ahLst/>
            <a:cxnLst/>
            <a:rect r="r" b="b" t="t" l="l"/>
            <a:pathLst>
              <a:path h="887384" w="871249">
                <a:moveTo>
                  <a:pt x="0" y="0"/>
                </a:moveTo>
                <a:lnTo>
                  <a:pt x="871250" y="0"/>
                </a:lnTo>
                <a:lnTo>
                  <a:pt x="871250" y="887384"/>
                </a:lnTo>
                <a:lnTo>
                  <a:pt x="0" y="887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23697" y="8041164"/>
            <a:ext cx="6655326" cy="154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b="true" sz="1709" spc="17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CES</a:t>
            </a:r>
            <a:r>
              <a:rPr lang="en-US" b="true" sz="1709" spc="17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COURBES MONTRENT QUE LE MODÈLE RESNET50 APPREND DE MANIÈRE STABLE ET EFFICACE : L'ACCURACY AUGMENTE RÉGULIÈREMENT TANDIS QUE LA LOSS DIMINUE, SANS SURAPPRENTISSAGE NOTABLE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26772" y="8543473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337" y="-880038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779101">
            <a:off x="-1641410" y="7471754"/>
            <a:ext cx="5340219" cy="3573092"/>
          </a:xfrm>
          <a:custGeom>
            <a:avLst/>
            <a:gdLst/>
            <a:ahLst/>
            <a:cxnLst/>
            <a:rect r="r" b="b" t="t" l="l"/>
            <a:pathLst>
              <a:path h="3573092" w="5340219">
                <a:moveTo>
                  <a:pt x="0" y="0"/>
                </a:moveTo>
                <a:lnTo>
                  <a:pt x="5340220" y="0"/>
                </a:lnTo>
                <a:lnTo>
                  <a:pt x="5340220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270193">
            <a:off x="14171356" y="-757846"/>
            <a:ext cx="5340219" cy="3573092"/>
          </a:xfrm>
          <a:custGeom>
            <a:avLst/>
            <a:gdLst/>
            <a:ahLst/>
            <a:cxnLst/>
            <a:rect r="r" b="b" t="t" l="l"/>
            <a:pathLst>
              <a:path h="3573092" w="5340219">
                <a:moveTo>
                  <a:pt x="0" y="0"/>
                </a:moveTo>
                <a:lnTo>
                  <a:pt x="5340219" y="0"/>
                </a:lnTo>
                <a:lnTo>
                  <a:pt x="5340219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0297" y="3117269"/>
            <a:ext cx="8833703" cy="4052461"/>
          </a:xfrm>
          <a:custGeom>
            <a:avLst/>
            <a:gdLst/>
            <a:ahLst/>
            <a:cxnLst/>
            <a:rect r="r" b="b" t="t" l="l"/>
            <a:pathLst>
              <a:path h="4052461" w="8833703">
                <a:moveTo>
                  <a:pt x="0" y="0"/>
                </a:moveTo>
                <a:lnTo>
                  <a:pt x="8833703" y="0"/>
                </a:lnTo>
                <a:lnTo>
                  <a:pt x="8833703" y="4052462"/>
                </a:lnTo>
                <a:lnTo>
                  <a:pt x="0" y="40524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300727"/>
            <a:ext cx="9144000" cy="3767387"/>
          </a:xfrm>
          <a:custGeom>
            <a:avLst/>
            <a:gdLst/>
            <a:ahLst/>
            <a:cxnLst/>
            <a:rect r="r" b="b" t="t" l="l"/>
            <a:pathLst>
              <a:path h="3767387" w="9144000">
                <a:moveTo>
                  <a:pt x="0" y="0"/>
                </a:moveTo>
                <a:lnTo>
                  <a:pt x="9144000" y="0"/>
                </a:lnTo>
                <a:lnTo>
                  <a:pt x="9144000" y="3767387"/>
                </a:lnTo>
                <a:lnTo>
                  <a:pt x="0" y="3767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740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27148" y="717191"/>
            <a:ext cx="8985646" cy="19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APPLICATION</a:t>
            </a: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 DÉVELOPPÉ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26772" y="8543473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337" y="-880038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02488" y="5143500"/>
            <a:ext cx="4658467" cy="325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3"/>
              </a:lnSpc>
            </a:pPr>
            <a:r>
              <a:rPr lang="en-US" sz="2900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779101">
            <a:off x="-1641410" y="7471754"/>
            <a:ext cx="5340219" cy="3573092"/>
          </a:xfrm>
          <a:custGeom>
            <a:avLst/>
            <a:gdLst/>
            <a:ahLst/>
            <a:cxnLst/>
            <a:rect r="r" b="b" t="t" l="l"/>
            <a:pathLst>
              <a:path h="3573092" w="5340219">
                <a:moveTo>
                  <a:pt x="0" y="0"/>
                </a:moveTo>
                <a:lnTo>
                  <a:pt x="5340220" y="0"/>
                </a:lnTo>
                <a:lnTo>
                  <a:pt x="5340220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270193">
            <a:off x="14171356" y="-757846"/>
            <a:ext cx="5340219" cy="3573092"/>
          </a:xfrm>
          <a:custGeom>
            <a:avLst/>
            <a:gdLst/>
            <a:ahLst/>
            <a:cxnLst/>
            <a:rect r="r" b="b" t="t" l="l"/>
            <a:pathLst>
              <a:path h="3573092" w="5340219">
                <a:moveTo>
                  <a:pt x="0" y="0"/>
                </a:moveTo>
                <a:lnTo>
                  <a:pt x="5340219" y="0"/>
                </a:lnTo>
                <a:lnTo>
                  <a:pt x="5340219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59732" y="3764625"/>
            <a:ext cx="1073275" cy="1081138"/>
          </a:xfrm>
          <a:custGeom>
            <a:avLst/>
            <a:gdLst/>
            <a:ahLst/>
            <a:cxnLst/>
            <a:rect r="r" b="b" t="t" l="l"/>
            <a:pathLst>
              <a:path h="1081138" w="1073275">
                <a:moveTo>
                  <a:pt x="0" y="0"/>
                </a:moveTo>
                <a:lnTo>
                  <a:pt x="1073275" y="0"/>
                </a:lnTo>
                <a:lnTo>
                  <a:pt x="1073275" y="1081138"/>
                </a:lnTo>
                <a:lnTo>
                  <a:pt x="0" y="1081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14924" y="1182719"/>
            <a:ext cx="8985646" cy="19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APPLICATION</a:t>
            </a: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 DÉVELOPPÉ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4766" y="5143500"/>
            <a:ext cx="4658467" cy="325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3"/>
              </a:lnSpc>
            </a:pPr>
            <a:r>
              <a:rPr lang="en-US" sz="2900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27045" y="5143500"/>
            <a:ext cx="4658467" cy="325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3"/>
              </a:lnSpc>
            </a:pPr>
            <a:r>
              <a:rPr lang="en-US" sz="2900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07362" y="3764625"/>
            <a:ext cx="1073275" cy="1081138"/>
          </a:xfrm>
          <a:custGeom>
            <a:avLst/>
            <a:gdLst/>
            <a:ahLst/>
            <a:cxnLst/>
            <a:rect r="r" b="b" t="t" l="l"/>
            <a:pathLst>
              <a:path h="1081138" w="1073275">
                <a:moveTo>
                  <a:pt x="0" y="0"/>
                </a:moveTo>
                <a:lnTo>
                  <a:pt x="1073276" y="0"/>
                </a:lnTo>
                <a:lnTo>
                  <a:pt x="1073276" y="1081138"/>
                </a:lnTo>
                <a:lnTo>
                  <a:pt x="0" y="1081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54993" y="3764625"/>
            <a:ext cx="1073275" cy="1081138"/>
          </a:xfrm>
          <a:custGeom>
            <a:avLst/>
            <a:gdLst/>
            <a:ahLst/>
            <a:cxnLst/>
            <a:rect r="r" b="b" t="t" l="l"/>
            <a:pathLst>
              <a:path h="1081138" w="1073275">
                <a:moveTo>
                  <a:pt x="0" y="0"/>
                </a:moveTo>
                <a:lnTo>
                  <a:pt x="1073275" y="0"/>
                </a:lnTo>
                <a:lnTo>
                  <a:pt x="1073275" y="1081138"/>
                </a:lnTo>
                <a:lnTo>
                  <a:pt x="0" y="1081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417" y="8084903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6349" y="-338330"/>
            <a:ext cx="2732528" cy="2704153"/>
          </a:xfrm>
          <a:custGeom>
            <a:avLst/>
            <a:gdLst/>
            <a:ahLst/>
            <a:cxnLst/>
            <a:rect r="r" b="b" t="t" l="l"/>
            <a:pathLst>
              <a:path h="2704153" w="2732528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28900" y="-1358203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96359" y="8084903"/>
            <a:ext cx="7889533" cy="4016408"/>
          </a:xfrm>
          <a:custGeom>
            <a:avLst/>
            <a:gdLst/>
            <a:ahLst/>
            <a:cxnLst/>
            <a:rect r="r" b="b" t="t" l="l"/>
            <a:pathLst>
              <a:path h="4016408" w="7889533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35589" y="3201251"/>
            <a:ext cx="5723711" cy="4048225"/>
          </a:xfrm>
          <a:custGeom>
            <a:avLst/>
            <a:gdLst/>
            <a:ahLst/>
            <a:cxnLst/>
            <a:rect r="r" b="b" t="t" l="l"/>
            <a:pathLst>
              <a:path h="4048225" w="5723711">
                <a:moveTo>
                  <a:pt x="0" y="0"/>
                </a:moveTo>
                <a:lnTo>
                  <a:pt x="5723711" y="0"/>
                </a:lnTo>
                <a:lnTo>
                  <a:pt x="5723711" y="4048225"/>
                </a:lnTo>
                <a:lnTo>
                  <a:pt x="0" y="40482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60668" y="28575"/>
            <a:ext cx="8985646" cy="19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CONCLUSION &amp; PERSPECTIVES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121843" y="2755321"/>
            <a:ext cx="12764953" cy="2384317"/>
            <a:chOff x="0" y="0"/>
            <a:chExt cx="17019937" cy="317909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4060260" y="601160"/>
              <a:ext cx="12959677" cy="2577930"/>
              <a:chOff x="0" y="0"/>
              <a:chExt cx="2766401" cy="5502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66401" cy="550291"/>
              </a:xfrm>
              <a:custGeom>
                <a:avLst/>
                <a:gdLst/>
                <a:ahLst/>
                <a:cxnLst/>
                <a:rect r="r" b="b" t="t" l="l"/>
                <a:pathLst>
                  <a:path h="550291" w="2766401">
                    <a:moveTo>
                      <a:pt x="68500" y="0"/>
                    </a:moveTo>
                    <a:lnTo>
                      <a:pt x="2697901" y="0"/>
                    </a:lnTo>
                    <a:cubicBezTo>
                      <a:pt x="2735733" y="0"/>
                      <a:pt x="2766401" y="30669"/>
                      <a:pt x="2766401" y="68500"/>
                    </a:cubicBezTo>
                    <a:lnTo>
                      <a:pt x="2766401" y="481791"/>
                    </a:lnTo>
                    <a:cubicBezTo>
                      <a:pt x="2766401" y="519622"/>
                      <a:pt x="2735733" y="550291"/>
                      <a:pt x="2697901" y="550291"/>
                    </a:cubicBezTo>
                    <a:lnTo>
                      <a:pt x="68500" y="550291"/>
                    </a:lnTo>
                    <a:cubicBezTo>
                      <a:pt x="30669" y="550291"/>
                      <a:pt x="0" y="519622"/>
                      <a:pt x="0" y="481791"/>
                    </a:cubicBezTo>
                    <a:lnTo>
                      <a:pt x="0" y="68500"/>
                    </a:lnTo>
                    <a:cubicBezTo>
                      <a:pt x="0" y="30669"/>
                      <a:pt x="30669" y="0"/>
                      <a:pt x="68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766401" cy="597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131697" y="980318"/>
              <a:ext cx="11427893" cy="1611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3"/>
                </a:lnSpc>
              </a:pPr>
              <a:r>
                <a:rPr lang="en-US" b="true" sz="1825" spc="182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LE MODÈLE RESNET50 (ACCURACY 69.77%, LOSS 0.78) SURPASSE LE CNN SIMPLE. L'APPLICATION STREAMLIT OFFRE UNE AIDE AU DIAGNOSTIC DERMATOLOGIQUE SIMPLE ET RAPIDE.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14371287" cy="837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7"/>
                </a:lnSpc>
              </a:pPr>
              <a:r>
                <a:rPr lang="en-US" sz="4229">
                  <a:solidFill>
                    <a:srgbClr val="575757"/>
                  </a:solidFill>
                  <a:latin typeface="Bugaki"/>
                  <a:ea typeface="Bugaki"/>
                  <a:cs typeface="Bugaki"/>
                  <a:sym typeface="Bugaki"/>
                </a:rPr>
                <a:t>CONCLUSION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60633" y="6048434"/>
            <a:ext cx="5633647" cy="752672"/>
            <a:chOff x="0" y="0"/>
            <a:chExt cx="1942823" cy="2595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2823" cy="259567"/>
            </a:xfrm>
            <a:custGeom>
              <a:avLst/>
              <a:gdLst/>
              <a:ahLst/>
              <a:cxnLst/>
              <a:rect r="r" b="b" t="t" l="l"/>
              <a:pathLst>
                <a:path h="259567" w="1942823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2D2261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144534" y="6224695"/>
            <a:ext cx="3195331" cy="36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Améliorer la précision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395693" y="6123807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39417" y="5639749"/>
            <a:ext cx="10778466" cy="62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7"/>
              </a:lnSpc>
            </a:pPr>
            <a:r>
              <a:rPr lang="en-US" sz="4229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PERSPECTIVES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260633" y="7064948"/>
            <a:ext cx="5633647" cy="827781"/>
            <a:chOff x="0" y="0"/>
            <a:chExt cx="1942823" cy="2854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42823" cy="285469"/>
            </a:xfrm>
            <a:custGeom>
              <a:avLst/>
              <a:gdLst/>
              <a:ahLst/>
              <a:cxnLst/>
              <a:rect r="r" b="b" t="t" l="l"/>
              <a:pathLst>
                <a:path h="285469" w="1942823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75531"/>
                  </a:lnTo>
                  <a:cubicBezTo>
                    <a:pt x="1942823" y="204688"/>
                    <a:pt x="1931240" y="232651"/>
                    <a:pt x="1910623" y="253269"/>
                  </a:cubicBezTo>
                  <a:cubicBezTo>
                    <a:pt x="1890005" y="273886"/>
                    <a:pt x="1862042" y="285469"/>
                    <a:pt x="1832885" y="285469"/>
                  </a:cubicBezTo>
                  <a:lnTo>
                    <a:pt x="109938" y="285469"/>
                  </a:lnTo>
                  <a:cubicBezTo>
                    <a:pt x="49221" y="285469"/>
                    <a:pt x="0" y="236248"/>
                    <a:pt x="0" y="175531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2D2261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42823" cy="323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144534" y="7278763"/>
            <a:ext cx="4844996" cy="36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Ajouter l'explicabilité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395693" y="7177875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260633" y="8235629"/>
            <a:ext cx="5633647" cy="752672"/>
            <a:chOff x="0" y="0"/>
            <a:chExt cx="1942823" cy="2595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2823" cy="259567"/>
            </a:xfrm>
            <a:custGeom>
              <a:avLst/>
              <a:gdLst/>
              <a:ahLst/>
              <a:cxnLst/>
              <a:rect r="r" b="b" t="t" l="l"/>
              <a:pathLst>
                <a:path h="259567" w="1942823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2D2261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144534" y="8411890"/>
            <a:ext cx="5520297" cy="35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Tester en clinique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395693" y="8311002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181" y="4093076"/>
            <a:ext cx="3093638" cy="3061513"/>
          </a:xfrm>
          <a:custGeom>
            <a:avLst/>
            <a:gdLst/>
            <a:ahLst/>
            <a:cxnLst/>
            <a:rect r="r" b="b" t="t" l="l"/>
            <a:pathLst>
              <a:path h="3061513" w="3093638">
                <a:moveTo>
                  <a:pt x="0" y="0"/>
                </a:moveTo>
                <a:lnTo>
                  <a:pt x="3093638" y="0"/>
                </a:lnTo>
                <a:lnTo>
                  <a:pt x="3093638" y="3061512"/>
                </a:lnTo>
                <a:lnTo>
                  <a:pt x="0" y="306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35216" y="1028700"/>
            <a:ext cx="6024084" cy="8517342"/>
          </a:xfrm>
          <a:custGeom>
            <a:avLst/>
            <a:gdLst/>
            <a:ahLst/>
            <a:cxnLst/>
            <a:rect r="r" b="b" t="t" l="l"/>
            <a:pathLst>
              <a:path h="8517342" w="6024084">
                <a:moveTo>
                  <a:pt x="0" y="0"/>
                </a:moveTo>
                <a:lnTo>
                  <a:pt x="6024084" y="0"/>
                </a:lnTo>
                <a:lnTo>
                  <a:pt x="6024084" y="8517342"/>
                </a:lnTo>
                <a:lnTo>
                  <a:pt x="0" y="8517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86236" y="4140701"/>
            <a:ext cx="10673427" cy="171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4"/>
              </a:lnSpc>
            </a:pPr>
            <a:r>
              <a:rPr lang="en-US" sz="11584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MERCI 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886236" y="-502056"/>
            <a:ext cx="3093638" cy="3061513"/>
          </a:xfrm>
          <a:custGeom>
            <a:avLst/>
            <a:gdLst/>
            <a:ahLst/>
            <a:cxnLst/>
            <a:rect r="r" b="b" t="t" l="l"/>
            <a:pathLst>
              <a:path h="3061513" w="3093638">
                <a:moveTo>
                  <a:pt x="0" y="0"/>
                </a:moveTo>
                <a:lnTo>
                  <a:pt x="3093638" y="0"/>
                </a:lnTo>
                <a:lnTo>
                  <a:pt x="3093638" y="3061512"/>
                </a:lnTo>
                <a:lnTo>
                  <a:pt x="0" y="306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332665">
            <a:off x="69898" y="5384182"/>
            <a:ext cx="1875774" cy="5401443"/>
          </a:xfrm>
          <a:custGeom>
            <a:avLst/>
            <a:gdLst/>
            <a:ahLst/>
            <a:cxnLst/>
            <a:rect r="r" b="b" t="t" l="l"/>
            <a:pathLst>
              <a:path h="5401443" w="1875774">
                <a:moveTo>
                  <a:pt x="0" y="0"/>
                </a:moveTo>
                <a:lnTo>
                  <a:pt x="1875774" y="0"/>
                </a:lnTo>
                <a:lnTo>
                  <a:pt x="1875774" y="5401443"/>
                </a:lnTo>
                <a:lnTo>
                  <a:pt x="0" y="5401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DAHKVohvXr0</dc:identifier>
  <dcterms:modified xsi:type="dcterms:W3CDTF">2011-08-01T06:04:30Z</dcterms:modified>
  <cp:revision>1</cp:revision>
  <dc:title>Présentation DL</dc:title>
</cp:coreProperties>
</file>